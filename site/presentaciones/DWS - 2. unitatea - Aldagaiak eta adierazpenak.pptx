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embeddedFontLst>
    <p:embeddedFont>
      <p:font typeface="Roboto Slab"/>
      <p:regular r:id="rId51"/>
      <p:bold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JONE MARTINE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Slab-regular.fntdata"/><Relationship Id="rId50" Type="http://schemas.openxmlformats.org/officeDocument/2006/relationships/slide" Target="slides/slide45.xml"/><Relationship Id="rId52" Type="http://schemas.openxmlformats.org/officeDocument/2006/relationships/font" Target="fonts/RobotoSlab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9-09T15:27:14.705">
    <p:pos x="495" y="194"/>
    <p:text>Hau aurrerago utziko dugu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3e0ed630e7_0_9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3e0ed630e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52f1335f29_0_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52f1335f2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52f1335f29_0_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52f1335f2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52f1335f29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52f1335f2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e0ed630e7_0_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3e0ed630e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52f1335f29_0_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52f1335f2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52f1335f29_0_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52f1335f2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52f1335f29_0_9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52f1335f2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52f1335f29_0_1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52f1335f29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52f1335f29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52f1335f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52f1335f29_0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52f1335f2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52f1335f29_0_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52f1335f2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d95fce168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fd95fce1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52f1335f29_0_6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52f1335f2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52f1335f29_0_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52f1335f2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52f1335f29_0_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52f1335f2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52f1335f29_0_1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52f1335f2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3e0ed630e7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3e0ed630e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3e0ed630e7_0_4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3e0ed630e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3e0ed630e7_0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3e0ed630e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3e0ed630e7_0_5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3e0ed630e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52f1335f29_0_1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52f1335f2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3483fb98d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53483fb9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53483fb98d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53483fb98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53483fb98d_0_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53483fb98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53483fb98d_0_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53483fb98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53483fb98d_0_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53483fb98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53483fb98d_0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53483fb98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53483fb98d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53483fb98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53483fb98d_0_4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53483fb98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53483fb98d_0_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53483fb98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53483fb98d_0_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53483fb98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53483fb98d_0_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53483fb98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53483fb98d_0_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53483fb98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53483fb98d_0_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53483fb98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53483fb98d_0_8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53483fb98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53483fb98d_0_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53483fb98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53483fb98d_0_9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53483fb98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53483fb98d_0_1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53483fb98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53483fb98d_0_1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153483fb98d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 b="0" l="19" r="19" t="0"/>
          <a:stretch/>
        </p:blipFill>
        <p:spPr>
          <a:xfrm flipH="1" rot="10800000">
            <a:off x="5952" y="0"/>
            <a:ext cx="91406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>
            <p:ph idx="1" type="body"/>
          </p:nvPr>
        </p:nvSpPr>
        <p:spPr>
          <a:xfrm>
            <a:off x="1215300" y="1723650"/>
            <a:ext cx="67134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i="1" sz="3600"/>
            </a:lvl1pPr>
            <a:lvl2pPr indent="-457200" lvl="1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i="1" sz="3600"/>
            </a:lvl2pPr>
            <a:lvl3pPr indent="-457200" lvl="2" marL="1371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i="1" sz="3600"/>
            </a:lvl3pPr>
            <a:lvl4pPr indent="-457200" lvl="3" marL="1828800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4pPr>
            <a:lvl5pPr indent="-457200" lvl="4" marL="2286000" rtl="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5pPr>
            <a:lvl6pPr indent="-457200" lvl="5" marL="2743200" rtl="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6pPr>
            <a:lvl7pPr indent="-457200" lvl="6" marL="3200400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7pPr>
            <a:lvl8pPr indent="-457200" lvl="7" marL="3657600" rtl="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8pPr>
            <a:lvl9pPr indent="-457200" lvl="8" marL="41148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9pPr>
          </a:lstStyle>
          <a:p/>
        </p:txBody>
      </p:sp>
      <p:grpSp>
        <p:nvGrpSpPr>
          <p:cNvPr id="32" name="Google Shape;32;p4"/>
          <p:cNvGrpSpPr/>
          <p:nvPr/>
        </p:nvGrpSpPr>
        <p:grpSpPr>
          <a:xfrm>
            <a:off x="3839646" y="782918"/>
            <a:ext cx="1464573" cy="842707"/>
            <a:chOff x="3593400" y="1729675"/>
            <a:chExt cx="1957200" cy="1123610"/>
          </a:xfrm>
        </p:grpSpPr>
        <p:sp>
          <p:nvSpPr>
            <p:cNvPr id="33" name="Google Shape;33;p4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0">
                  <a:solidFill>
                    <a:schemeClr val="accen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b="1" sz="60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cap="flat" cmpd="sng" w="9525">
              <a:solidFill>
                <a:srgbClr val="CFD8D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cap="flat" cmpd="sng" w="19050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6" name="Google Shape;36;p4"/>
          <p:cNvCxnSpPr>
            <a:endCxn id="34" idx="1"/>
          </p:cNvCxnSpPr>
          <p:nvPr/>
        </p:nvCxnSpPr>
        <p:spPr>
          <a:xfrm>
            <a:off x="3750511" y="390297"/>
            <a:ext cx="532200" cy="5355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" name="Google Shape;37;p4"/>
          <p:cNvCxnSpPr/>
          <p:nvPr/>
        </p:nvCxnSpPr>
        <p:spPr>
          <a:xfrm rot="10800000">
            <a:off x="4362902" y="436125"/>
            <a:ext cx="209100" cy="369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" name="Google Shape;38;p4"/>
          <p:cNvCxnSpPr/>
          <p:nvPr/>
        </p:nvCxnSpPr>
        <p:spPr>
          <a:xfrm flipH="1" rot="10800000">
            <a:off x="4704510" y="351930"/>
            <a:ext cx="347100" cy="474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-87" y="4749844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2" type="body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3" type="body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" type="body"/>
          </p:nvPr>
        </p:nvSpPr>
        <p:spPr>
          <a:xfrm>
            <a:off x="457200" y="4055343"/>
            <a:ext cx="8229600" cy="3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-92" y="4749844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mplete pattern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-26550" y="-14850"/>
            <a:ext cx="9197100" cy="5173200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php.net/manual/es/ini.core.php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php.net/manual/es/reserved.variables.php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php.net/manual/en/language.operators.php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w3schools.com/php/func_string_printf.asp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php.net/manual/en/function.strlen.php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php.net/manual/en/function.strpos.php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php.net/manual/es/function.substr.php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comments" Target="../comments/comment1.xml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ctrTitle"/>
          </p:nvPr>
        </p:nvSpPr>
        <p:spPr>
          <a:xfrm>
            <a:off x="1824960" y="1173900"/>
            <a:ext cx="58074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PHP LENGOAIA</a:t>
            </a:r>
            <a:endParaRPr/>
          </a:p>
        </p:txBody>
      </p:sp>
      <p:sp>
        <p:nvSpPr>
          <p:cNvPr id="71" name="Google Shape;71;p12"/>
          <p:cNvSpPr txBox="1"/>
          <p:nvPr>
            <p:ph idx="4294967295" type="subTitle"/>
          </p:nvPr>
        </p:nvSpPr>
        <p:spPr>
          <a:xfrm>
            <a:off x="1924650" y="2179350"/>
            <a:ext cx="55623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600"/>
              <a:t>2. UNITATEA - ALDAGAIAK ETA ADIERAZPENAK </a:t>
            </a:r>
            <a:endParaRPr b="1" sz="3600"/>
          </a:p>
        </p:txBody>
      </p:sp>
      <p:sp>
        <p:nvSpPr>
          <p:cNvPr id="72" name="Google Shape;72;p12"/>
          <p:cNvSpPr txBox="1"/>
          <p:nvPr>
            <p:ph idx="4294967295" type="body"/>
          </p:nvPr>
        </p:nvSpPr>
        <p:spPr>
          <a:xfrm>
            <a:off x="207975" y="3983700"/>
            <a:ext cx="52959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2"/>
                </a:solidFill>
              </a:rPr>
              <a:t>Web garapena zerbitzari-ingurunean</a:t>
            </a:r>
            <a:endParaRPr sz="26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/>
              <a:t>Txurdinaga 2024-25</a:t>
            </a:r>
            <a:endParaRPr sz="2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4"/>
                </a:solidFill>
              </a:rPr>
              <a:t>1.</a:t>
            </a:r>
            <a:endParaRPr sz="60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programazioa PHPrekin</a:t>
            </a:r>
            <a:endParaRPr/>
          </a:p>
        </p:txBody>
      </p:sp>
      <p:sp>
        <p:nvSpPr>
          <p:cNvPr id="78" name="Google Shape;78;p13"/>
          <p:cNvSpPr txBox="1"/>
          <p:nvPr>
            <p:ph idx="4294967295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3"/>
          <p:cNvSpPr txBox="1"/>
          <p:nvPr>
            <p:ph type="ctrTitle"/>
          </p:nvPr>
        </p:nvSpPr>
        <p:spPr>
          <a:xfrm>
            <a:off x="1546025" y="3333019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Char char="-"/>
            </a:pPr>
            <a:r>
              <a:rPr b="0" lang="en" sz="3000">
                <a:solidFill>
                  <a:schemeClr val="accent3"/>
                </a:solidFill>
              </a:rPr>
              <a:t>Aldagaiak</a:t>
            </a:r>
            <a:endParaRPr b="0" sz="3000">
              <a:solidFill>
                <a:schemeClr val="accent3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Char char="-"/>
            </a:pPr>
            <a:r>
              <a:rPr b="0" lang="en" sz="3000">
                <a:solidFill>
                  <a:schemeClr val="accent3"/>
                </a:solidFill>
              </a:rPr>
              <a:t>Adierazpenak eta eragileak</a:t>
            </a:r>
            <a:endParaRPr b="0" sz="3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786150" y="33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Web programazioa PHPrekin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335800" y="1164825"/>
            <a:ext cx="5312700" cy="3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HASIERA</a:t>
            </a:r>
            <a:endParaRPr b="1" sz="1900">
              <a:solidFill>
                <a:srgbClr val="0091E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0091E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PHP web-orri dinamikoak egiteko diseinatuta</a:t>
            </a:r>
            <a:endParaRPr sz="1900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&lt;?php</a:t>
            </a:r>
            <a:r>
              <a:rPr lang="en" sz="19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……………  </a:t>
            </a:r>
            <a:r>
              <a:rPr lang="en" sz="19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?&gt;</a:t>
            </a:r>
            <a:endParaRPr sz="1900">
              <a:solidFill>
                <a:schemeClr val="accen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Konfigurazioa  </a:t>
            </a:r>
            <a:r>
              <a:rPr lang="en" sz="1900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http.conf</a:t>
            </a:r>
            <a:r>
              <a:rPr lang="en" sz="19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eta </a:t>
            </a:r>
            <a:r>
              <a:rPr lang="en" sz="1900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php.ini </a:t>
            </a:r>
            <a:r>
              <a:rPr lang="en" sz="19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fitxategietan egiten da</a:t>
            </a:r>
            <a:endParaRPr sz="1900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php.ini</a:t>
            </a:r>
            <a:r>
              <a:rPr lang="en" sz="19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-n erabili daitezkeen direktiben zerrenda dago PHPren dokumentazioan.</a:t>
            </a:r>
            <a:endParaRPr sz="1900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9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3"/>
              </a:rPr>
              <a:t>http://php.net/manual/es/ini.core.php</a:t>
            </a:r>
            <a:endParaRPr i="1" sz="1900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5767825" y="1164825"/>
            <a:ext cx="3185400" cy="3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IRUZKINAK</a:t>
            </a:r>
            <a:endParaRPr sz="1900">
              <a:solidFill>
                <a:srgbClr val="0091E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Oso gomendagarria (ez dira ikusiko, HTMLkoak bai)</a:t>
            </a:r>
            <a:endParaRPr sz="1900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//</a:t>
            </a:r>
            <a:r>
              <a:rPr lang="en" sz="19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Lerro bakarrekoa</a:t>
            </a:r>
            <a:endParaRPr sz="1900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/*</a:t>
            </a:r>
            <a:r>
              <a:rPr lang="en" sz="19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…….  </a:t>
            </a:r>
            <a:r>
              <a:rPr lang="en" sz="19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*/</a:t>
            </a:r>
            <a:r>
              <a:rPr lang="en" sz="19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Lerro bat baino geihago</a:t>
            </a:r>
            <a:endParaRPr sz="1900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5"/>
          <p:cNvSpPr txBox="1"/>
          <p:nvPr>
            <p:ph idx="4294967295"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2"/>
                </a:solidFill>
              </a:rPr>
              <a:t>Aldagaiak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786150" y="1110550"/>
            <a:ext cx="75717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200"/>
              <a:buChar char="◎"/>
            </a:pPr>
            <a:r>
              <a:rPr lang="en" sz="2200"/>
              <a:t>Aurrean </a:t>
            </a:r>
            <a:r>
              <a:rPr lang="en" sz="2200">
                <a:solidFill>
                  <a:srgbClr val="0091EA"/>
                </a:solidFill>
              </a:rPr>
              <a:t>$</a:t>
            </a:r>
            <a:r>
              <a:rPr lang="en" sz="2200"/>
              <a:t> zeinua egongo da beti.</a:t>
            </a:r>
            <a:endParaRPr sz="2200"/>
          </a:p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Char char="◎"/>
            </a:pPr>
            <a:r>
              <a:rPr lang="en" sz="2200"/>
              <a:t>Aldagaien izenak letrez hasi behar dira eta gainerako karaktereak letrak, zenbakiak edo gidoi baxua (_) izango dira.</a:t>
            </a:r>
            <a:endParaRPr sz="2200"/>
          </a:p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Char char="◎"/>
            </a:pPr>
            <a:r>
              <a:rPr lang="en" sz="2200"/>
              <a:t>Ez da derrigorrezkoa aldagaiak deklaratzea.</a:t>
            </a:r>
            <a:endParaRPr sz="2200"/>
          </a:p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Char char="◎"/>
            </a:pPr>
            <a:r>
              <a:rPr lang="en" sz="2200"/>
              <a:t>Ez da datu-mota zehaztu behar.</a:t>
            </a:r>
            <a:endParaRPr sz="2200"/>
          </a:p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Char char="◎"/>
            </a:pPr>
            <a:r>
              <a:rPr lang="en" sz="2200"/>
              <a:t>Nahikoa da balio bat ematearekin.</a:t>
            </a:r>
            <a:endParaRPr sz="2200"/>
          </a:p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Char char="◎"/>
            </a:pPr>
            <a:r>
              <a:rPr lang="en" sz="2200"/>
              <a:t>    </a:t>
            </a:r>
            <a:r>
              <a:rPr lang="en" sz="2200"/>
              <a:t>        $nire_aldagaia = 7;</a:t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Aldagaiak eta datu-motak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786150" y="1110550"/>
            <a:ext cx="75717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Emandako balioaren arabera aldagaiari datu mota bat esleituko zaio.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Aldagaien izenak letra txikiaz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PHPk letra txikia eta letra larria ezberdintzen ditu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7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Aldagaiak eta datu-motak</a:t>
            </a:r>
            <a:endParaRPr sz="2600">
              <a:solidFill>
                <a:srgbClr val="073763"/>
              </a:solidFill>
            </a:endParaRPr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6000" y="2909825"/>
            <a:ext cx="5604399" cy="17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786150" y="1110550"/>
            <a:ext cx="75717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Aldagaien izenak bi hitz baldin baditu, gomendagarria izango litzateke "camel case" nomenklatura erabiltzea.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Aldagaiak eta datu-motak</a:t>
            </a:r>
            <a:endParaRPr sz="2600">
              <a:solidFill>
                <a:srgbClr val="073763"/>
              </a:solidFill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025" y="2550775"/>
            <a:ext cx="5489399" cy="17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557550" y="950125"/>
            <a:ext cx="8166900" cy="38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>
                <a:solidFill>
                  <a:srgbClr val="0091EA"/>
                </a:solidFill>
              </a:rPr>
              <a:t>Boolearra (boolean)</a:t>
            </a:r>
            <a:r>
              <a:rPr lang="en" sz="2000"/>
              <a:t>: Egia (True) eta gezurra (false) dira haren balio     posibleak; gainera, edozein zenbaki oso egitzat hartzen da, 0 izan ezik.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◎"/>
            </a:pPr>
            <a:r>
              <a:rPr lang="en" sz="2000">
                <a:solidFill>
                  <a:srgbClr val="0091EA"/>
                </a:solidFill>
              </a:rPr>
              <a:t>Osoa (integer):</a:t>
            </a:r>
            <a:r>
              <a:rPr lang="en" sz="2000"/>
              <a:t> Hamartarrik gabeko edozein zenbaki. Hamartarrean, bitarrean, zortzitarrean edo hamaseitarrean adierazi     daitezke.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◎"/>
            </a:pPr>
            <a:r>
              <a:rPr lang="en" sz="2000">
                <a:solidFill>
                  <a:srgbClr val="0091EA"/>
                </a:solidFill>
              </a:rPr>
              <a:t>Erreala (float)</a:t>
            </a:r>
            <a:r>
              <a:rPr lang="en" sz="2000"/>
              <a:t>: Edozein zenbaki hamartar, notazio zientifikoan ere adierazi     daitezke.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◎"/>
            </a:pPr>
            <a:r>
              <a:rPr lang="en" sz="2000">
                <a:solidFill>
                  <a:srgbClr val="0091EA"/>
                </a:solidFill>
              </a:rPr>
              <a:t>Katea (string):</a:t>
            </a:r>
            <a:r>
              <a:rPr lang="en" sz="2000"/>
              <a:t> Kakotx sinple edo bikoitzek magatutako karaktere multzoa.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◎"/>
            </a:pPr>
            <a:r>
              <a:rPr lang="en" sz="2000">
                <a:solidFill>
                  <a:srgbClr val="0091EA"/>
                </a:solidFill>
              </a:rPr>
              <a:t>Null:</a:t>
            </a:r>
            <a:r>
              <a:rPr lang="en" sz="2000"/>
              <a:t> Datu mota berezia da eta aldagaia baliorik gabekoa dela adierazten du.</a:t>
            </a:r>
            <a:endParaRPr sz="2000"/>
          </a:p>
        </p:txBody>
      </p:sp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9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Aldagaiak eta datu-motak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786150" y="778800"/>
            <a:ext cx="8100600" cy="42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Mota ezberdinetako aldagaiekin eragiketa bat egiten baldin bada, guztiak mota komunera bihurtuko dira:</a:t>
            </a:r>
            <a:endParaRPr sz="2000"/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$nire_osokoa = 3;</a:t>
            </a:r>
            <a:endParaRPr sz="1300"/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$nire_erreala = 2.3;</a:t>
            </a:r>
            <a:endParaRPr sz="1300"/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$emaitza = $nire_osokoa + $nire-erreala;</a:t>
            </a:r>
            <a:endParaRPr sz="1300"/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91EA"/>
                </a:solidFill>
              </a:rPr>
              <a:t>// $emaitza aldagaia erreal motakoa da. </a:t>
            </a:r>
            <a:endParaRPr sz="1300">
              <a:solidFill>
                <a:srgbClr val="0091EA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Bihurketak behartu egin daitezke:</a:t>
            </a:r>
            <a:endParaRPr sz="2000"/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 </a:t>
            </a:r>
            <a:r>
              <a:rPr lang="en" sz="1300"/>
              <a:t>$nire_osokoa = 3;</a:t>
            </a:r>
            <a:endParaRPr sz="1300"/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  $nire_erreala = 2.3;</a:t>
            </a:r>
            <a:endParaRPr sz="1300"/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 $emaitza = $nire_osokoa +</a:t>
            </a:r>
            <a:r>
              <a:rPr lang="en" sz="1300">
                <a:solidFill>
                  <a:srgbClr val="0091EA"/>
                </a:solidFill>
              </a:rPr>
              <a:t> (int) </a:t>
            </a:r>
            <a:r>
              <a:rPr lang="en" sz="1300"/>
              <a:t>$nire_erreala;</a:t>
            </a:r>
            <a:endParaRPr sz="1300"/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  </a:t>
            </a:r>
            <a:r>
              <a:rPr lang="en" sz="1300">
                <a:solidFill>
                  <a:srgbClr val="0091EA"/>
                </a:solidFill>
              </a:rPr>
              <a:t>// $nire_erreala aldagaia osoko bihurtzen da (2 balioa) batu baino lehen.</a:t>
            </a:r>
            <a:endParaRPr sz="1300">
              <a:solidFill>
                <a:srgbClr val="0091EA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91EA"/>
                </a:solidFill>
              </a:rPr>
              <a:t> // $emaitza aldagaia osokoa da (5 balioa du). </a:t>
            </a:r>
            <a:endParaRPr sz="1300">
              <a:solidFill>
                <a:srgbClr val="0091EA"/>
              </a:solidFill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t/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0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Aldagaiak eta datu-motak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86150" y="778800"/>
            <a:ext cx="8100600" cy="42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</a:rPr>
              <a:t>Echo</a:t>
            </a:r>
            <a:endParaRPr sz="2000">
              <a:solidFill>
                <a:schemeClr val="accent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Mezuak pantailan idazteko agindua da. </a:t>
            </a:r>
            <a:endParaRPr sz="2000"/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accent1"/>
                </a:solidFill>
              </a:rPr>
              <a:t>echo "&lt;p&gt;Hau da erakutsiko dugun mezua.&lt;/p&gt;";</a:t>
            </a:r>
            <a:endParaRPr i="1"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Aldagai bat erakutsi ahal izateko:</a:t>
            </a:r>
            <a:endParaRPr sz="20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</a:rPr>
              <a:t>echo "&lt;p&gt;X aldagaiaren balioa  $x da.&lt;/p&gt;";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</a:rPr>
              <a:t>         echo "&lt;p&gt;X aldagaiaren balioa ". $x . " da.&lt;/p&gt;";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136" name="Google Shape;136;p2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1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Ariketekin hasi aurretik…..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1</a:t>
            </a:r>
            <a:endParaRPr/>
          </a:p>
        </p:txBody>
      </p:sp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2"/>
          <p:cNvSpPr txBox="1"/>
          <p:nvPr>
            <p:ph idx="4294967295" type="body"/>
          </p:nvPr>
        </p:nvSpPr>
        <p:spPr>
          <a:xfrm>
            <a:off x="557550" y="918050"/>
            <a:ext cx="8166900" cy="40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Sortu aldagai Integer bat eta beste bat erreala eta euren batura egin eta erakutsi pantailan.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Horrelako zeozer agertu beharko litzateke: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accent1"/>
                </a:solidFill>
              </a:rPr>
              <a:t>&lt;p&gt;X aldagaiaren balioa  5 da.&lt;/p&gt;</a:t>
            </a:r>
            <a:endParaRPr i="1" sz="2000">
              <a:solidFill>
                <a:schemeClr val="accent1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accent1"/>
                </a:solidFill>
              </a:rPr>
              <a:t>&lt;p&gt;Y aldagaiaren balioa  2.5 da.&lt;/p&gt;</a:t>
            </a:r>
            <a:endParaRPr i="1" sz="2000">
              <a:solidFill>
                <a:schemeClr val="accent1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accent1"/>
                </a:solidFill>
              </a:rPr>
              <a:t>&lt;p&gt;X+Y= 7.5 &lt;/p&gt;</a:t>
            </a:r>
            <a:endParaRPr i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2</a:t>
            </a:r>
            <a:endParaRPr/>
          </a:p>
        </p:txBody>
      </p:sp>
      <p:sp>
        <p:nvSpPr>
          <p:cNvPr id="150" name="Google Shape;150;p23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3"/>
          <p:cNvSpPr txBox="1"/>
          <p:nvPr>
            <p:ph idx="4294967295" type="body"/>
          </p:nvPr>
        </p:nvSpPr>
        <p:spPr>
          <a:xfrm>
            <a:off x="557550" y="918050"/>
            <a:ext cx="8166900" cy="40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Sortu bi aldagai, bat izen batekin eta beste bat adinarekin eta hurrengo testua erakutsi pantailan: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Kaixo, ni </a:t>
            </a:r>
            <a:r>
              <a:rPr lang="en" sz="2000">
                <a:solidFill>
                  <a:schemeClr val="accent1"/>
                </a:solidFill>
              </a:rPr>
              <a:t>XXXX </a:t>
            </a:r>
            <a:r>
              <a:rPr lang="en" sz="2000"/>
              <a:t>naiz eta </a:t>
            </a:r>
            <a:r>
              <a:rPr lang="en" sz="2000">
                <a:solidFill>
                  <a:schemeClr val="accent1"/>
                </a:solidFill>
              </a:rPr>
              <a:t>XX </a:t>
            </a:r>
            <a:r>
              <a:rPr lang="en" sz="2000"/>
              <a:t>urte ditut. Ongi etorriak!!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" name="Google Shape;156;p24"/>
          <p:cNvCxnSpPr/>
          <p:nvPr/>
        </p:nvCxnSpPr>
        <p:spPr>
          <a:xfrm flipH="1" rot="10800000">
            <a:off x="6805299" y="540952"/>
            <a:ext cx="143700" cy="377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4"/>
          <p:cNvCxnSpPr/>
          <p:nvPr/>
        </p:nvCxnSpPr>
        <p:spPr>
          <a:xfrm flipH="1">
            <a:off x="7451750" y="1182125"/>
            <a:ext cx="337200" cy="131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4"/>
          <p:cNvCxnSpPr>
            <a:endCxn id="159" idx="6"/>
          </p:cNvCxnSpPr>
          <p:nvPr/>
        </p:nvCxnSpPr>
        <p:spPr>
          <a:xfrm rot="10800000">
            <a:off x="7601250" y="1836015"/>
            <a:ext cx="998100" cy="98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2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24"/>
          <p:cNvSpPr txBox="1"/>
          <p:nvPr>
            <p:ph idx="4294967295"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Algagaiak erabiltzeko eremua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162" name="Google Shape;162;p24"/>
          <p:cNvSpPr txBox="1"/>
          <p:nvPr>
            <p:ph idx="4294967295" type="body"/>
          </p:nvPr>
        </p:nvSpPr>
        <p:spPr>
          <a:xfrm>
            <a:off x="557550" y="918050"/>
            <a:ext cx="8166900" cy="40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Edozein tokitan erabili ditzakegu.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Ez bada existitzen, erabiltzen den lehenengo aldian lekua erreserbatzen zaio.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Funtzio baten barruan erabiltzen baldin badugu estreinakoz, funtzio barruan lokala da.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Kanpoan ere erabili nahi izanez gero </a:t>
            </a:r>
            <a:r>
              <a:rPr lang="en" sz="2000">
                <a:solidFill>
                  <a:schemeClr val="accent1"/>
                </a:solidFill>
              </a:rPr>
              <a:t>global </a:t>
            </a:r>
            <a:r>
              <a:rPr lang="en" sz="2000"/>
              <a:t>hitza erabili behar da.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Funtzio barruan erabiltzen diren aldagaiak sortu eta ezabatu egiten dira funtzioa deitzen zaion bakoitzean; aldagaiaren balioa mantendu ahal izateko </a:t>
            </a:r>
            <a:r>
              <a:rPr lang="en" sz="2000">
                <a:solidFill>
                  <a:schemeClr val="accent1"/>
                </a:solidFill>
              </a:rPr>
              <a:t>static </a:t>
            </a:r>
            <a:r>
              <a:rPr lang="en" sz="2000"/>
              <a:t>hitza erabili behar da.</a:t>
            </a:r>
            <a:endParaRPr sz="2000"/>
          </a:p>
          <a:p>
            <a:pPr indent="0" lvl="0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t/>
            </a:r>
            <a:endParaRPr sz="2000"/>
          </a:p>
        </p:txBody>
      </p:sp>
      <p:sp>
        <p:nvSpPr>
          <p:cNvPr id="163" name="Google Shape;163;p24"/>
          <p:cNvSpPr txBox="1"/>
          <p:nvPr>
            <p:ph idx="4294967295" type="body"/>
          </p:nvPr>
        </p:nvSpPr>
        <p:spPr>
          <a:xfrm>
            <a:off x="1025925" y="4491900"/>
            <a:ext cx="68904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    </a:t>
            </a:r>
            <a:r>
              <a:rPr i="1" lang="en" sz="1900">
                <a:solidFill>
                  <a:srgbClr val="0091EA"/>
                </a:solidFill>
              </a:rPr>
              <a:t>static </a:t>
            </a:r>
            <a:r>
              <a:rPr i="1" lang="en" sz="1900"/>
              <a:t>$a;</a:t>
            </a:r>
            <a:endParaRPr i="1"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168;p25"/>
          <p:cNvCxnSpPr/>
          <p:nvPr/>
        </p:nvCxnSpPr>
        <p:spPr>
          <a:xfrm flipH="1" rot="10800000">
            <a:off x="6805299" y="540952"/>
            <a:ext cx="143700" cy="377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5"/>
          <p:cNvCxnSpPr/>
          <p:nvPr/>
        </p:nvCxnSpPr>
        <p:spPr>
          <a:xfrm flipH="1">
            <a:off x="7451750" y="1182125"/>
            <a:ext cx="337200" cy="131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5"/>
          <p:cNvCxnSpPr>
            <a:endCxn id="171" idx="6"/>
          </p:cNvCxnSpPr>
          <p:nvPr/>
        </p:nvCxnSpPr>
        <p:spPr>
          <a:xfrm rot="10800000">
            <a:off x="7601250" y="1836015"/>
            <a:ext cx="998100" cy="98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25"/>
          <p:cNvSpPr txBox="1"/>
          <p:nvPr>
            <p:ph idx="4294967295"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Algagaiak erabiltzeko eremua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174" name="Google Shape;174;p25"/>
          <p:cNvSpPr txBox="1"/>
          <p:nvPr>
            <p:ph idx="4294967295" type="body"/>
          </p:nvPr>
        </p:nvSpPr>
        <p:spPr>
          <a:xfrm>
            <a:off x="180275" y="984325"/>
            <a:ext cx="4727700" cy="36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&lt;?php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$a = 5;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function froga (){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    </a:t>
            </a:r>
            <a:r>
              <a:rPr i="1" lang="en" sz="1400">
                <a:solidFill>
                  <a:srgbClr val="0091EA"/>
                </a:solidFill>
              </a:rPr>
              <a:t>global </a:t>
            </a:r>
            <a:r>
              <a:rPr i="1" lang="en" sz="1400"/>
              <a:t>$a;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   $b = $a;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   print "a aldagaiaren balioa da $a eta b aldagairena $b";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}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froga ();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?&gt;</a:t>
            </a:r>
            <a:endParaRPr i="1" sz="14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</p:txBody>
      </p:sp>
      <p:sp>
        <p:nvSpPr>
          <p:cNvPr id="175" name="Google Shape;175;p25"/>
          <p:cNvSpPr txBox="1"/>
          <p:nvPr>
            <p:ph idx="4294967295" type="body"/>
          </p:nvPr>
        </p:nvSpPr>
        <p:spPr>
          <a:xfrm>
            <a:off x="4824700" y="1343550"/>
            <a:ext cx="3646200" cy="36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0091EA"/>
                </a:solidFill>
              </a:rPr>
              <a:t>global </a:t>
            </a:r>
            <a:r>
              <a:rPr i="1" lang="en" sz="2000"/>
              <a:t>hitza barik funtzioaren barruan $a ez legoke definiturik eta Warning aterako litzateke programan….</a:t>
            </a:r>
            <a:endParaRPr i="1"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6"/>
          <p:cNvCxnSpPr/>
          <p:nvPr/>
        </p:nvCxnSpPr>
        <p:spPr>
          <a:xfrm flipH="1" rot="10800000">
            <a:off x="6805299" y="540952"/>
            <a:ext cx="143700" cy="377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6"/>
          <p:cNvCxnSpPr/>
          <p:nvPr/>
        </p:nvCxnSpPr>
        <p:spPr>
          <a:xfrm flipH="1">
            <a:off x="7451750" y="1182125"/>
            <a:ext cx="337200" cy="131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6"/>
          <p:cNvCxnSpPr>
            <a:endCxn id="183" idx="6"/>
          </p:cNvCxnSpPr>
          <p:nvPr/>
        </p:nvCxnSpPr>
        <p:spPr>
          <a:xfrm rot="10800000">
            <a:off x="7601250" y="1836015"/>
            <a:ext cx="998100" cy="98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6"/>
          <p:cNvSpPr txBox="1"/>
          <p:nvPr>
            <p:ph idx="4294967295"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Algagaiak erabiltzeko eremua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186" name="Google Shape;186;p26"/>
          <p:cNvSpPr txBox="1"/>
          <p:nvPr>
            <p:ph idx="4294967295" type="body"/>
          </p:nvPr>
        </p:nvSpPr>
        <p:spPr>
          <a:xfrm>
            <a:off x="180275" y="984325"/>
            <a:ext cx="4727700" cy="36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&lt;?php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function froga (){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    </a:t>
            </a:r>
            <a:r>
              <a:rPr i="1" lang="en" sz="1400">
                <a:solidFill>
                  <a:srgbClr val="0091EA"/>
                </a:solidFill>
              </a:rPr>
              <a:t>static </a:t>
            </a:r>
            <a:r>
              <a:rPr i="1" lang="en" sz="1400"/>
              <a:t>$a = 0;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   $a++;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   // $a aldagaia funtzioari deitzen zaion bakoitzean handitzen da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}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froga ();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?&gt;</a:t>
            </a:r>
            <a:endParaRPr i="1" sz="14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</p:txBody>
      </p:sp>
      <p:sp>
        <p:nvSpPr>
          <p:cNvPr id="187" name="Google Shape;187;p26"/>
          <p:cNvSpPr txBox="1"/>
          <p:nvPr>
            <p:ph idx="4294967295" type="body"/>
          </p:nvPr>
        </p:nvSpPr>
        <p:spPr>
          <a:xfrm>
            <a:off x="5054050" y="1313225"/>
            <a:ext cx="3646200" cy="36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0091EA"/>
                </a:solidFill>
              </a:rPr>
              <a:t>static </a:t>
            </a:r>
            <a:r>
              <a:rPr i="1" lang="en" sz="2000"/>
              <a:t>- aldagai estatikoak deklaratutako sententzia berean hasieratu behar dira, horrela funtzioa deitzen zaion lehenengo aldian bakarrik hasieratuko da..</a:t>
            </a:r>
            <a:endParaRPr i="1"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1B</a:t>
            </a:r>
            <a:endParaRPr/>
          </a:p>
        </p:txBody>
      </p:sp>
      <p:sp>
        <p:nvSpPr>
          <p:cNvPr id="193" name="Google Shape;193;p2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27"/>
          <p:cNvSpPr txBox="1"/>
          <p:nvPr>
            <p:ph idx="4294967295" type="body"/>
          </p:nvPr>
        </p:nvSpPr>
        <p:spPr>
          <a:xfrm>
            <a:off x="557550" y="918050"/>
            <a:ext cx="8166900" cy="40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Ariketa 1ean egindako eragiketa egingo dugu, baina oraingo honetan funtzio baten barruan, global eta static-en ezberdintasuna ikusi ahal izateko. 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Aurreko diapositiban ikusi duzuen moduan, funtzioen nomeklatura hurrengo hau da: </a:t>
            </a:r>
            <a:endParaRPr sz="2000"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function froga (){</a:t>
            </a:r>
            <a:endParaRPr i="1" sz="1400"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    </a:t>
            </a:r>
            <a:r>
              <a:rPr i="1" lang="en" sz="1400">
                <a:solidFill>
                  <a:schemeClr val="accent1"/>
                </a:solidFill>
              </a:rPr>
              <a:t>// Hemen gure kodea sartuko dugu</a:t>
            </a:r>
            <a:endParaRPr i="1" sz="1400"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}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Google Shape;199;p28"/>
          <p:cNvCxnSpPr/>
          <p:nvPr/>
        </p:nvCxnSpPr>
        <p:spPr>
          <a:xfrm flipH="1" rot="10800000">
            <a:off x="6805299" y="540952"/>
            <a:ext cx="143700" cy="377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8"/>
          <p:cNvCxnSpPr/>
          <p:nvPr/>
        </p:nvCxnSpPr>
        <p:spPr>
          <a:xfrm flipH="1">
            <a:off x="7451750" y="1182125"/>
            <a:ext cx="337200" cy="131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8"/>
          <p:cNvCxnSpPr>
            <a:endCxn id="202" idx="6"/>
          </p:cNvCxnSpPr>
          <p:nvPr/>
        </p:nvCxnSpPr>
        <p:spPr>
          <a:xfrm rot="10800000">
            <a:off x="7601250" y="1836015"/>
            <a:ext cx="998100" cy="98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8"/>
          <p:cNvSpPr txBox="1"/>
          <p:nvPr>
            <p:ph idx="4294967295"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PHPko aldagai bereziak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205" name="Google Shape;205;p28"/>
          <p:cNvSpPr txBox="1"/>
          <p:nvPr>
            <p:ph idx="4294967295" type="body"/>
          </p:nvPr>
        </p:nvSpPr>
        <p:spPr>
          <a:xfrm>
            <a:off x="611550" y="1019350"/>
            <a:ext cx="8088600" cy="39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600"/>
              </a:spcBef>
              <a:spcAft>
                <a:spcPts val="0"/>
              </a:spcAft>
              <a:buSzPts val="2300"/>
              <a:buChar char="◎"/>
            </a:pPr>
            <a:r>
              <a:rPr i="1" lang="en" sz="2300"/>
              <a:t>PHPk baditu hainbat predefinitutako aldagai edozein eremutik erabili daitezkeenak; hori dela eta, aldagai superglobal izena dute; ez duzu ezta global ere erabili behar haiek atzitzeko. </a:t>
            </a:r>
            <a:endParaRPr i="1" sz="23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◎"/>
            </a:pPr>
            <a:r>
              <a:rPr i="1" lang="en" sz="2300"/>
              <a:t>Aldagai horietako bakoitza array-a da, eta array horrek balio-multzoa dauka.</a:t>
            </a:r>
            <a:endParaRPr i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800" u="sng">
                <a:solidFill>
                  <a:schemeClr val="hlink"/>
                </a:solidFill>
                <a:hlinkClick r:id="rId3"/>
              </a:rPr>
              <a:t>https://www.php.net/manual/es/reserved.variables.php</a:t>
            </a:r>
            <a:endParaRPr i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29"/>
          <p:cNvCxnSpPr/>
          <p:nvPr/>
        </p:nvCxnSpPr>
        <p:spPr>
          <a:xfrm flipH="1" rot="10800000">
            <a:off x="6805299" y="540952"/>
            <a:ext cx="143700" cy="377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9"/>
          <p:cNvCxnSpPr/>
          <p:nvPr/>
        </p:nvCxnSpPr>
        <p:spPr>
          <a:xfrm flipH="1">
            <a:off x="7451750" y="1182125"/>
            <a:ext cx="337200" cy="131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9"/>
          <p:cNvCxnSpPr>
            <a:endCxn id="213" idx="6"/>
          </p:cNvCxnSpPr>
          <p:nvPr/>
        </p:nvCxnSpPr>
        <p:spPr>
          <a:xfrm rot="10800000">
            <a:off x="7601250" y="1836015"/>
            <a:ext cx="998100" cy="981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29"/>
          <p:cNvSpPr txBox="1"/>
          <p:nvPr>
            <p:ph idx="4294967295" type="title"/>
          </p:nvPr>
        </p:nvSpPr>
        <p:spPr>
          <a:xfrm>
            <a:off x="786150" y="491250"/>
            <a:ext cx="2265000" cy="15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PHPko </a:t>
            </a:r>
            <a:endParaRPr sz="26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aldagai </a:t>
            </a:r>
            <a:endParaRPr sz="26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bereziak</a:t>
            </a:r>
            <a:endParaRPr sz="2600">
              <a:solidFill>
                <a:srgbClr val="073763"/>
              </a:solidFill>
            </a:endParaRPr>
          </a:p>
        </p:txBody>
      </p:sp>
      <p:pic>
        <p:nvPicPr>
          <p:cNvPr id="216" name="Google Shape;21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5275" y="406375"/>
            <a:ext cx="5067070" cy="433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204900" y="1462925"/>
            <a:ext cx="8734200" cy="21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◎"/>
            </a:pPr>
            <a:r>
              <a:rPr lang="en" sz="2000">
                <a:solidFill>
                  <a:schemeClr val="accent1"/>
                </a:solidFill>
              </a:rPr>
              <a:t>define </a:t>
            </a:r>
            <a:r>
              <a:rPr lang="en" sz="2000"/>
              <a:t>(</a:t>
            </a:r>
            <a:r>
              <a:rPr lang="en" sz="2000">
                <a:solidFill>
                  <a:srgbClr val="0091EA"/>
                </a:solidFill>
              </a:rPr>
              <a:t>const </a:t>
            </a:r>
            <a:r>
              <a:rPr lang="en" sz="2000"/>
              <a:t>PHP 5.3.0-tik aurrera) funtzioarekin konstanteak definitu ditzakegu, konstanteak identifikadoreak dira eta beraien balioa ez da programa exekutatzen ari den bitartean aldatzen.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◎"/>
            </a:pPr>
            <a:r>
              <a:rPr lang="en" sz="2000"/>
              <a:t>Letra larriz idatzi ohi dira.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◎"/>
            </a:pPr>
            <a:r>
              <a:rPr lang="en" sz="2000"/>
              <a:t>Integer, float, string, bolean eta null balioak izan ditzakete.</a:t>
            </a:r>
            <a:endParaRPr sz="2000"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          </a:t>
            </a:r>
            <a:r>
              <a:rPr lang="en" sz="1300"/>
              <a:t> </a:t>
            </a:r>
            <a:endParaRPr sz="1400"/>
          </a:p>
        </p:txBody>
      </p:sp>
      <p:sp>
        <p:nvSpPr>
          <p:cNvPr id="222" name="Google Shape;222;p30"/>
          <p:cNvSpPr txBox="1"/>
          <p:nvPr>
            <p:ph idx="4294967295" type="title"/>
          </p:nvPr>
        </p:nvSpPr>
        <p:spPr>
          <a:xfrm>
            <a:off x="743900" y="2817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Konstanteak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223" name="Google Shape;223;p30"/>
          <p:cNvSpPr txBox="1"/>
          <p:nvPr>
            <p:ph idx="1" type="body"/>
          </p:nvPr>
        </p:nvSpPr>
        <p:spPr>
          <a:xfrm>
            <a:off x="400325" y="3585725"/>
            <a:ext cx="4207200" cy="13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 &lt;?php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r>
              <a:rPr lang="en" sz="1400">
                <a:solidFill>
                  <a:schemeClr val="accent1"/>
                </a:solidFill>
              </a:rPr>
              <a:t>define </a:t>
            </a:r>
            <a:r>
              <a:rPr lang="en" sz="1400"/>
              <a:t>("KONSTANTEA","Kaixo Mundua!! Zelan zaude?");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1"/>
                </a:solidFill>
              </a:rPr>
              <a:t>print </a:t>
            </a:r>
            <a:r>
              <a:rPr lang="en" sz="1400"/>
              <a:t>KONSTANTEA;</a:t>
            </a:r>
            <a:endParaRPr sz="1400">
              <a:solidFill>
                <a:srgbClr val="0091EA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?&gt;</a:t>
            </a:r>
            <a:endParaRPr sz="1400"/>
          </a:p>
        </p:txBody>
      </p:sp>
      <p:sp>
        <p:nvSpPr>
          <p:cNvPr id="224" name="Google Shape;224;p30"/>
          <p:cNvSpPr txBox="1"/>
          <p:nvPr>
            <p:ph idx="1" type="body"/>
          </p:nvPr>
        </p:nvSpPr>
        <p:spPr>
          <a:xfrm>
            <a:off x="4741125" y="3585725"/>
            <a:ext cx="4330200" cy="13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 &lt;?php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 	</a:t>
            </a:r>
            <a:r>
              <a:rPr lang="en" sz="1400">
                <a:solidFill>
                  <a:schemeClr val="accent1"/>
                </a:solidFill>
              </a:rPr>
              <a:t>const </a:t>
            </a:r>
            <a:r>
              <a:rPr lang="en" sz="1400"/>
              <a:t>KONSTANTEA_2 = 'Hau beste modu bat da';</a:t>
            </a:r>
            <a:endParaRPr sz="1400"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1"/>
                </a:solidFill>
              </a:rPr>
              <a:t>print </a:t>
            </a:r>
            <a:r>
              <a:rPr lang="en" sz="1400"/>
              <a:t>KONSTANTEA_2 ;</a:t>
            </a:r>
            <a:endParaRPr sz="14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?&gt;</a:t>
            </a:r>
            <a:endParaRPr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1"/>
          <p:cNvSpPr txBox="1"/>
          <p:nvPr>
            <p:ph idx="4294967295"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2"/>
                </a:solidFill>
              </a:rPr>
              <a:t>Adierazpenak eta eragileak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31" name="Google Shape;231;p31"/>
          <p:cNvSpPr txBox="1"/>
          <p:nvPr/>
        </p:nvSpPr>
        <p:spPr>
          <a:xfrm>
            <a:off x="1974000" y="4071650"/>
            <a:ext cx="6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3"/>
              </a:rPr>
              <a:t>https://www.php.net/manual/en/language.operators.php</a:t>
            </a:r>
            <a:endParaRPr sz="16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 txBox="1"/>
          <p:nvPr>
            <p:ph idx="1" type="body"/>
          </p:nvPr>
        </p:nvSpPr>
        <p:spPr>
          <a:xfrm>
            <a:off x="263425" y="804100"/>
            <a:ext cx="4372800" cy="4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91EA"/>
                </a:solidFill>
              </a:rPr>
              <a:t>Eragiketa matematikoak</a:t>
            </a:r>
            <a:endParaRPr b="1">
              <a:solidFill>
                <a:srgbClr val="0091EA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2"/>
          <p:cNvSpPr txBox="1"/>
          <p:nvPr>
            <p:ph idx="2" type="body"/>
          </p:nvPr>
        </p:nvSpPr>
        <p:spPr>
          <a:xfrm>
            <a:off x="5393600" y="804100"/>
            <a:ext cx="3303000" cy="4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91EA"/>
                </a:solidFill>
              </a:rPr>
              <a:t>Esleitzeko operadoreak</a:t>
            </a:r>
            <a:endParaRPr b="1">
              <a:solidFill>
                <a:srgbClr val="0091EA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2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2"/>
          <p:cNvSpPr txBox="1"/>
          <p:nvPr>
            <p:ph type="title"/>
          </p:nvPr>
        </p:nvSpPr>
        <p:spPr>
          <a:xfrm>
            <a:off x="78615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Adierazpenak eta eragileak</a:t>
            </a:r>
            <a:endParaRPr sz="2600">
              <a:solidFill>
                <a:srgbClr val="073763"/>
              </a:solidFill>
            </a:endParaRPr>
          </a:p>
        </p:txBody>
      </p:sp>
      <p:pic>
        <p:nvPicPr>
          <p:cNvPr id="240" name="Google Shape;24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988" y="1744500"/>
            <a:ext cx="4086225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3600" y="1744488"/>
            <a:ext cx="2686050" cy="3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3</a:t>
            </a:r>
            <a:endParaRPr/>
          </a:p>
        </p:txBody>
      </p:sp>
      <p:sp>
        <p:nvSpPr>
          <p:cNvPr id="247" name="Google Shape;247;p33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33"/>
          <p:cNvSpPr txBox="1"/>
          <p:nvPr>
            <p:ph idx="4294967295" type="body"/>
          </p:nvPr>
        </p:nvSpPr>
        <p:spPr>
          <a:xfrm>
            <a:off x="557550" y="918050"/>
            <a:ext cx="8166900" cy="40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Sortu bi aldagai ezberdin eta euren arteko batuketa, kenketa, biderketa eta zatiketa egin eta pantailan erakutsi.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Gorde eragiketa bakoitzeko emaitza aldagai ezberdinetan, $batuketa, $kenketa etab…..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Horretarako html estruktura baten</a:t>
            </a:r>
            <a:endParaRPr sz="20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barruan egin.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  <p:pic>
        <p:nvPicPr>
          <p:cNvPr id="249" name="Google Shape;249;p33"/>
          <p:cNvPicPr preferRelativeResize="0"/>
          <p:nvPr/>
        </p:nvPicPr>
        <p:blipFill rotWithShape="1">
          <a:blip r:embed="rId3">
            <a:alphaModFix/>
          </a:blip>
          <a:srcRect b="0" l="2771" r="0" t="0"/>
          <a:stretch/>
        </p:blipFill>
        <p:spPr>
          <a:xfrm>
            <a:off x="5638875" y="2595850"/>
            <a:ext cx="2902975" cy="21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idx="1" type="body"/>
          </p:nvPr>
        </p:nvSpPr>
        <p:spPr>
          <a:xfrm>
            <a:off x="187225" y="804100"/>
            <a:ext cx="2819400" cy="7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91EA"/>
                </a:solidFill>
              </a:rPr>
              <a:t>Gehitzeko eta kentzeko</a:t>
            </a:r>
            <a:endParaRPr b="1">
              <a:solidFill>
                <a:srgbClr val="0091EA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type="title"/>
          </p:nvPr>
        </p:nvSpPr>
        <p:spPr>
          <a:xfrm>
            <a:off x="-28175" y="25300"/>
            <a:ext cx="44988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Adierazpenak eta eragileak</a:t>
            </a:r>
            <a:endParaRPr sz="2600">
              <a:solidFill>
                <a:srgbClr val="073763"/>
              </a:solidFill>
            </a:endParaRPr>
          </a:p>
        </p:txBody>
      </p:sp>
      <p:pic>
        <p:nvPicPr>
          <p:cNvPr id="257" name="Google Shape;25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25" y="1440388"/>
            <a:ext cx="281940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3410525" y="901050"/>
            <a:ext cx="5542500" cy="38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 &lt;?php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$a = 5;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$b = ++$a;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print "a aldagaiaren balioa da $a eta b aldagaiarena $b \n" 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$a = 5;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$b = $a++;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print "a aldagaiaren balioa da $a eta b aldagaiarena $b \n" 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?&gt; </a:t>
            </a:r>
            <a:endParaRPr i="1" sz="14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741B47"/>
                </a:solidFill>
              </a:rPr>
              <a:t>Zein balio izango dute $a eta $b aldagaiek kasu bakoitzean? Egin froga zuek eta ariketa 4 moduan gorde.</a:t>
            </a:r>
            <a:endParaRPr i="1" sz="14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>
            <p:ph idx="1" type="body"/>
          </p:nvPr>
        </p:nvSpPr>
        <p:spPr>
          <a:xfrm>
            <a:off x="187225" y="651700"/>
            <a:ext cx="2819400" cy="7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91EA"/>
                </a:solidFill>
              </a:rPr>
              <a:t>Gehitzeko eta kentzeko</a:t>
            </a:r>
            <a:endParaRPr b="1">
              <a:solidFill>
                <a:srgbClr val="0091EA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-28175" y="25300"/>
            <a:ext cx="44988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Adierazpenak eta eragileak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266" name="Google Shape;266;p35"/>
          <p:cNvSpPr txBox="1"/>
          <p:nvPr>
            <p:ph idx="1" type="body"/>
          </p:nvPr>
        </p:nvSpPr>
        <p:spPr>
          <a:xfrm>
            <a:off x="305025" y="1081375"/>
            <a:ext cx="8526300" cy="40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 &lt;?php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$a = 5;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$b = 1;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$b -= $a;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print "a aldagaiaren balioa da $a eta b aldagaiarena $b \n" 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$a = 5;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$b = 1;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$b += $a;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?&gt; </a:t>
            </a:r>
            <a:endParaRPr i="1" sz="14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741B47"/>
                </a:solidFill>
              </a:rPr>
              <a:t>Zein balio izango dute $a eta $b aldagaiek kasu bakoitzean?</a:t>
            </a:r>
            <a:endParaRPr i="1" sz="1400">
              <a:solidFill>
                <a:srgbClr val="741B47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36"/>
          <p:cNvSpPr txBox="1"/>
          <p:nvPr>
            <p:ph type="title"/>
          </p:nvPr>
        </p:nvSpPr>
        <p:spPr>
          <a:xfrm>
            <a:off x="-28175" y="25300"/>
            <a:ext cx="44988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Adierazpenak eta eragileak</a:t>
            </a:r>
            <a:endParaRPr sz="2600">
              <a:solidFill>
                <a:srgbClr val="073763"/>
              </a:solidFill>
            </a:endParaRPr>
          </a:p>
        </p:txBody>
      </p:sp>
      <p:pic>
        <p:nvPicPr>
          <p:cNvPr id="273" name="Google Shape;2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075" y="235475"/>
            <a:ext cx="4191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6"/>
          <p:cNvSpPr txBox="1"/>
          <p:nvPr>
            <p:ph idx="1" type="body"/>
          </p:nvPr>
        </p:nvSpPr>
        <p:spPr>
          <a:xfrm>
            <a:off x="759775" y="2032900"/>
            <a:ext cx="2819400" cy="7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91EA"/>
                </a:solidFill>
              </a:rPr>
              <a:t>Konparaketak</a:t>
            </a:r>
            <a:endParaRPr b="1">
              <a:solidFill>
                <a:srgbClr val="0091EA"/>
              </a:solidFill>
            </a:endParaRPr>
          </a:p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-28175" y="25300"/>
            <a:ext cx="44988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Adierazpenak eta eragileak</a:t>
            </a:r>
            <a:endParaRPr sz="2600">
              <a:solidFill>
                <a:srgbClr val="073763"/>
              </a:solidFill>
            </a:endParaRPr>
          </a:p>
        </p:txBody>
      </p:sp>
      <p:pic>
        <p:nvPicPr>
          <p:cNvPr id="281" name="Google Shape;28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475" y="1282375"/>
            <a:ext cx="5102000" cy="307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7"/>
          <p:cNvSpPr txBox="1"/>
          <p:nvPr>
            <p:ph idx="1" type="body"/>
          </p:nvPr>
        </p:nvSpPr>
        <p:spPr>
          <a:xfrm>
            <a:off x="5584975" y="2468213"/>
            <a:ext cx="2819400" cy="7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91EA"/>
                </a:solidFill>
              </a:rPr>
              <a:t>Konparaketak</a:t>
            </a:r>
            <a:endParaRPr b="1">
              <a:solidFill>
                <a:srgbClr val="0091EA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8"/>
          <p:cNvSpPr txBox="1"/>
          <p:nvPr>
            <p:ph idx="1" type="body"/>
          </p:nvPr>
        </p:nvSpPr>
        <p:spPr>
          <a:xfrm>
            <a:off x="187225" y="651700"/>
            <a:ext cx="2819400" cy="7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91EA"/>
                </a:solidFill>
              </a:rPr>
              <a:t>Kate - operadorak</a:t>
            </a:r>
            <a:endParaRPr b="1">
              <a:solidFill>
                <a:srgbClr val="0091EA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-28175" y="25300"/>
            <a:ext cx="44988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Adierazpenak eta eragileak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290" name="Google Shape;290;p38"/>
          <p:cNvSpPr txBox="1"/>
          <p:nvPr>
            <p:ph idx="1" type="body"/>
          </p:nvPr>
        </p:nvSpPr>
        <p:spPr>
          <a:xfrm>
            <a:off x="305025" y="1081375"/>
            <a:ext cx="8526300" cy="40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 </a:t>
            </a:r>
            <a:endParaRPr i="1"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800"/>
              <a:t>&lt;?php</a:t>
            </a:r>
            <a:endParaRPr i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800"/>
              <a:t>$a = "Kaixo ";</a:t>
            </a:r>
            <a:endParaRPr i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800"/>
              <a:t>$b = $a . "Mundua!"; // orain $b aldagaiak "Kaixo mundua! Balioa izango du"</a:t>
            </a:r>
            <a:endParaRPr i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800"/>
              <a:t>$a = "Kaixo ";</a:t>
            </a:r>
            <a:endParaRPr i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800"/>
              <a:t>$a .= "Mundua!";     // orain $a aldagaiak "Kaixo mundua! Balioa izango du"</a:t>
            </a:r>
            <a:endParaRPr i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800"/>
              <a:t>?&gt;</a:t>
            </a:r>
            <a:endParaRPr i="1" sz="1800">
              <a:solidFill>
                <a:srgbClr val="741B4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39"/>
          <p:cNvSpPr txBox="1"/>
          <p:nvPr>
            <p:ph idx="4294967295"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2"/>
                </a:solidFill>
              </a:rPr>
              <a:t>Php elementuak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40"/>
          <p:cNvSpPr txBox="1"/>
          <p:nvPr>
            <p:ph type="title"/>
          </p:nvPr>
        </p:nvSpPr>
        <p:spPr>
          <a:xfrm>
            <a:off x="-28175" y="25300"/>
            <a:ext cx="72303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Testu kateak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303" name="Google Shape;303;p40"/>
          <p:cNvSpPr txBox="1"/>
          <p:nvPr>
            <p:ph idx="1" type="body"/>
          </p:nvPr>
        </p:nvSpPr>
        <p:spPr>
          <a:xfrm>
            <a:off x="305025" y="727900"/>
            <a:ext cx="8526300" cy="4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Kateek kakotx sinpleak zein bikoitzak erabil ditzakete PHPn. Alde nabarmena dago bata eta bestearen artean, ordea: aldagaia kakotx bikoitzen artean jartzen dugunean, prozesatu egiten da eta beraren balioak ordezkatua da; hortaz, honela erabili genezake print:</a:t>
            </a:r>
            <a:endParaRPr i="1" sz="14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&lt;?php</a:t>
            </a:r>
            <a:endParaRPr i="1" sz="14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$ikasgaia="DWES";</a:t>
            </a:r>
            <a:endParaRPr i="1" sz="14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print "&lt;p&gt;Ikasgaia: $ikasgaia&lt;/p&gt;";</a:t>
            </a:r>
            <a:endParaRPr i="1" sz="14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?&gt;</a:t>
            </a:r>
            <a:endParaRPr i="1" sz="14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$ikasgaia aldagaia kakotx bikoitzen artean da ezagutua, eta, irteera sortu baino lehen, “DWES”ekin ordezkatua da; hori berori kakotx sinpleak erabiliz egin izan bagenu, ez zen inolako ordezkapenik egingo.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41"/>
          <p:cNvSpPr txBox="1"/>
          <p:nvPr>
            <p:ph type="title"/>
          </p:nvPr>
        </p:nvSpPr>
        <p:spPr>
          <a:xfrm>
            <a:off x="-28175" y="25300"/>
            <a:ext cx="72303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Testu kateak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310" name="Google Shape;310;p41"/>
          <p:cNvSpPr txBox="1"/>
          <p:nvPr>
            <p:ph idx="1" type="body"/>
          </p:nvPr>
        </p:nvSpPr>
        <p:spPr>
          <a:xfrm>
            <a:off x="305025" y="727900"/>
            <a:ext cx="8526300" cy="4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741B47"/>
                </a:solidFill>
              </a:rPr>
              <a:t>Frogatu hurrengo adibidea ezberdintasuna zein den ikusteko: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&lt;?php</a:t>
            </a:r>
            <a:endParaRPr i="1" sz="14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$ikasgaia="DWES";</a:t>
            </a:r>
            <a:endParaRPr i="1" sz="14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print "&lt;p&gt;Ikasgaia: $ikasgaia&lt;/p&gt;";</a:t>
            </a:r>
            <a:endParaRPr i="1" sz="14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$ikasgaia1='SMS';</a:t>
            </a:r>
            <a:endParaRPr i="1" sz="14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print '&lt;p&gt;Ikasgaia: $ikasgaia1&lt;/p&gt;';</a:t>
            </a:r>
            <a:endParaRPr i="1" sz="14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400"/>
              <a:t>?&gt;</a:t>
            </a:r>
            <a:endParaRPr i="1" sz="14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2"/>
          <p:cNvSpPr txBox="1"/>
          <p:nvPr>
            <p:ph type="title"/>
          </p:nvPr>
        </p:nvSpPr>
        <p:spPr>
          <a:xfrm>
            <a:off x="-28175" y="25300"/>
            <a:ext cx="72303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Testu kateak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317" name="Google Shape;317;p42"/>
          <p:cNvSpPr txBox="1"/>
          <p:nvPr>
            <p:ph idx="1" type="body"/>
          </p:nvPr>
        </p:nvSpPr>
        <p:spPr>
          <a:xfrm>
            <a:off x="305025" y="727900"/>
            <a:ext cx="8526300" cy="4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K</a:t>
            </a:r>
            <a:r>
              <a:rPr b="1" lang="en"/>
              <a:t>akotx sinpleak erabiltzean</a:t>
            </a:r>
            <a:r>
              <a:rPr lang="en"/>
              <a:t>, bi ordezkapen baino ez dira egiten katearen barruan: \' topatzen denean, kakotx sinplea erakusten da irteeran; \\ topatzen denean, berriz, alderantzizko marra erakusten da irteeran.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Sekuentzia horiek ihes-sekuentzia gisa ezagutuak dira. </a:t>
            </a:r>
            <a:r>
              <a:rPr b="1" lang="en"/>
              <a:t>Kakotx bikoitzak erabiltzen</a:t>
            </a:r>
            <a:r>
              <a:rPr lang="en"/>
              <a:t> dituzten kateetan, \\ sekuentziaz aparte, beste batzuk erabili daitezke; \' sekuentzia, ordea, ez. Kakotx bikoitzekin erabiltzeko ihes-sekuentziak agertzen dira honako taula honetan.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3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43"/>
          <p:cNvSpPr txBox="1"/>
          <p:nvPr>
            <p:ph type="title"/>
          </p:nvPr>
        </p:nvSpPr>
        <p:spPr>
          <a:xfrm>
            <a:off x="-28175" y="25300"/>
            <a:ext cx="72303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Testu kateak</a:t>
            </a:r>
            <a:endParaRPr sz="2600">
              <a:solidFill>
                <a:srgbClr val="073763"/>
              </a:solidFill>
            </a:endParaRPr>
          </a:p>
        </p:txBody>
      </p:sp>
      <p:pic>
        <p:nvPicPr>
          <p:cNvPr id="324" name="Google Shape;32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400" y="1260525"/>
            <a:ext cx="6722175" cy="292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0" name="Google Shape;330;p44"/>
          <p:cNvSpPr txBox="1"/>
          <p:nvPr>
            <p:ph type="title"/>
          </p:nvPr>
        </p:nvSpPr>
        <p:spPr>
          <a:xfrm>
            <a:off x="-28175" y="25300"/>
            <a:ext cx="72303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print </a:t>
            </a:r>
            <a:r>
              <a:rPr lang="en" sz="2600">
                <a:solidFill>
                  <a:srgbClr val="073763"/>
                </a:solidFill>
              </a:rPr>
              <a:t>funtzioaren erabilera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331" name="Google Shape;331;p44"/>
          <p:cNvSpPr txBox="1"/>
          <p:nvPr>
            <p:ph idx="1" type="body"/>
          </p:nvPr>
        </p:nvSpPr>
        <p:spPr>
          <a:xfrm>
            <a:off x="262775" y="1023925"/>
            <a:ext cx="8526300" cy="4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print </a:t>
            </a:r>
            <a:r>
              <a:rPr lang="en"/>
              <a:t>beste aukera bat da, eta antzera funtzionatzen du.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print eta echoren arteko alderik handiena zera da: printek parametro bakarra jaso dezake eta bakarra bueltatzen du.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int print (string $arg);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45"/>
          <p:cNvSpPr txBox="1"/>
          <p:nvPr>
            <p:ph type="title"/>
          </p:nvPr>
        </p:nvSpPr>
        <p:spPr>
          <a:xfrm>
            <a:off x="-28175" y="25300"/>
            <a:ext cx="72303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print eta echo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338" name="Google Shape;338;p45"/>
          <p:cNvSpPr txBox="1"/>
          <p:nvPr>
            <p:ph idx="1" type="body"/>
          </p:nvPr>
        </p:nvSpPr>
        <p:spPr>
          <a:xfrm>
            <a:off x="308850" y="607600"/>
            <a:ext cx="8526300" cy="4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&lt;?php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//lehenbizi, "</a:t>
            </a:r>
            <a:r>
              <a:rPr lang="en" sz="1800">
                <a:solidFill>
                  <a:schemeClr val="accent1"/>
                </a:solidFill>
              </a:rPr>
              <a:t>echo</a:t>
            </a:r>
            <a:r>
              <a:rPr lang="en" sz="1800"/>
              <a:t>" funtzioa probatuko dugu hainbat kate inprimatzeko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echo "Lehenengo katea", " bigarren katea", " hirugarren katea"; //komaz bereizitako zenbait kate inprima daitezke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//orain, </a:t>
            </a:r>
            <a:r>
              <a:rPr lang="en" sz="1800">
                <a:solidFill>
                  <a:schemeClr val="accent1"/>
                </a:solidFill>
              </a:rPr>
              <a:t>print </a:t>
            </a:r>
            <a:r>
              <a:rPr lang="en" sz="1800"/>
              <a:t>probatuko dugu. Ohartzerakoan, linea bakarra erabili dugu, baina print-arekin 3 kode-lerro behar dira, funtzio baten antzera funtzionatzen du eta parametro bakarra onartzen du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print "</a:t>
            </a:r>
            <a:r>
              <a:rPr lang="en" sz="1800"/>
              <a:t>Lehenengo katea</a:t>
            </a:r>
            <a:r>
              <a:rPr lang="en" sz="1800"/>
              <a:t>";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print " </a:t>
            </a:r>
            <a:r>
              <a:rPr lang="en" sz="1800"/>
              <a:t>bigarren katea</a:t>
            </a:r>
            <a:r>
              <a:rPr lang="en" sz="1800"/>
              <a:t>";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print " </a:t>
            </a:r>
            <a:r>
              <a:rPr lang="en" sz="1800"/>
              <a:t>hirugarren katea</a:t>
            </a:r>
            <a:r>
              <a:rPr lang="en" sz="1800"/>
              <a:t>";  ?&gt;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46"/>
          <p:cNvSpPr txBox="1"/>
          <p:nvPr>
            <p:ph type="title"/>
          </p:nvPr>
        </p:nvSpPr>
        <p:spPr>
          <a:xfrm>
            <a:off x="262775" y="25300"/>
            <a:ext cx="69393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printf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345" name="Google Shape;345;p46"/>
          <p:cNvSpPr txBox="1"/>
          <p:nvPr>
            <p:ph idx="1" type="body"/>
          </p:nvPr>
        </p:nvSpPr>
        <p:spPr>
          <a:xfrm>
            <a:off x="262775" y="664525"/>
            <a:ext cx="8526300" cy="4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1"/>
                </a:solidFill>
              </a:rPr>
              <a:t>printf </a:t>
            </a:r>
            <a:r>
              <a:rPr lang="en" sz="1900"/>
              <a:t>irteera bat sortzeko beste aukera bat da. Hainbat parametro jaso ditzake: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/>
              <a:t>lehenengoa testu-katea da eta ezarri beharreko formatua adierazten du; funtzioak beste hainbat parametro jaso ditzake, eta, horietako bakoitzagatik, bihurtze-espezifikadore bat eduki beharko du kateak -parametroak agertutako ordena berean-. Adibidez: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&lt;?php</a:t>
            </a:r>
            <a:endParaRPr sz="15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$zikloa="DAW";</a:t>
            </a:r>
            <a:endParaRPr sz="15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$ikasgaia="eDWS; print "&lt;p&gt;";</a:t>
            </a:r>
            <a:endParaRPr sz="15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printf("%s %s zikloko %d mailako ikasgaia", $ikasgaia, $zikloa, 2);</a:t>
            </a:r>
            <a:endParaRPr sz="15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print "&lt;/p&gt;";</a:t>
            </a:r>
            <a:endParaRPr sz="15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?&gt;</a:t>
            </a:r>
            <a:endParaRPr sz="15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rgbClr val="741B47"/>
                </a:solidFill>
              </a:rPr>
              <a:t>Zelan uste duzue agertuko dela pantailan?</a:t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47"/>
          <p:cNvSpPr txBox="1"/>
          <p:nvPr>
            <p:ph type="title"/>
          </p:nvPr>
        </p:nvSpPr>
        <p:spPr>
          <a:xfrm>
            <a:off x="262775" y="25300"/>
            <a:ext cx="69393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printf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352" name="Google Shape;352;p47"/>
          <p:cNvSpPr txBox="1"/>
          <p:nvPr>
            <p:ph idx="1" type="body"/>
          </p:nvPr>
        </p:nvSpPr>
        <p:spPr>
          <a:xfrm>
            <a:off x="262775" y="664525"/>
            <a:ext cx="8526300" cy="4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/>
              <a:t>Espezifikadoreek % karakterea daukate aurretik, mota bakarrik da derrigorrezkoa, gainontzekoak hautazkoak dira.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/>
              <a:t>Hurrengo estekan dituzu mota-espezifikadoreak: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https://www.w3schools.com/php/func_string_printf.asp</a:t>
            </a:r>
            <a:r>
              <a:rPr lang="en" sz="1500"/>
              <a:t> </a:t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48"/>
          <p:cNvSpPr txBox="1"/>
          <p:nvPr>
            <p:ph idx="4294967295" type="ctrTitle"/>
          </p:nvPr>
        </p:nvSpPr>
        <p:spPr>
          <a:xfrm>
            <a:off x="1546025" y="1241124"/>
            <a:ext cx="5832600" cy="282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</a:rPr>
              <a:t>Testu kateekin erlazionaturiko funtzioak</a:t>
            </a:r>
            <a:endParaRPr sz="1000">
              <a:solidFill>
                <a:schemeClr val="accent2"/>
              </a:solidFill>
            </a:endParaRPr>
          </a:p>
        </p:txBody>
      </p:sp>
      <p:sp>
        <p:nvSpPr>
          <p:cNvPr id="359" name="Google Shape;359;p48"/>
          <p:cNvSpPr txBox="1"/>
          <p:nvPr/>
        </p:nvSpPr>
        <p:spPr>
          <a:xfrm>
            <a:off x="2166400" y="4109425"/>
            <a:ext cx="66159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https://www.php.net/manual/es/ref.strings.php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49"/>
          <p:cNvSpPr txBox="1"/>
          <p:nvPr>
            <p:ph type="title"/>
          </p:nvPr>
        </p:nvSpPr>
        <p:spPr>
          <a:xfrm>
            <a:off x="262775" y="0"/>
            <a:ext cx="72303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chemeClr val="hlink"/>
                </a:solidFill>
                <a:hlinkClick r:id="rId3"/>
              </a:rPr>
              <a:t>strlen </a:t>
            </a:r>
            <a:r>
              <a:rPr lang="en" sz="2600">
                <a:solidFill>
                  <a:srgbClr val="073763"/>
                </a:solidFill>
              </a:rPr>
              <a:t>() funtzioa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366" name="Google Shape;366;p49"/>
          <p:cNvSpPr txBox="1"/>
          <p:nvPr>
            <p:ph idx="1" type="body"/>
          </p:nvPr>
        </p:nvSpPr>
        <p:spPr>
          <a:xfrm>
            <a:off x="262775" y="727900"/>
            <a:ext cx="8526300" cy="4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Katearen luzera itzultzen du.</a:t>
            </a:r>
            <a:endParaRPr sz="18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&lt;?php</a:t>
            </a:r>
            <a:endParaRPr sz="15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echo "Katearen luzera neurtu: ";</a:t>
            </a:r>
            <a:endParaRPr sz="15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echo </a:t>
            </a:r>
            <a:r>
              <a:rPr lang="en" sz="1500">
                <a:solidFill>
                  <a:srgbClr val="0091EA"/>
                </a:solidFill>
              </a:rPr>
              <a:t>strlen</a:t>
            </a:r>
            <a:r>
              <a:rPr lang="en" sz="1500"/>
              <a:t>("Katearen luzera neurtu");</a:t>
            </a:r>
            <a:endParaRPr sz="15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?&gt;</a:t>
            </a:r>
            <a:endParaRPr sz="15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Katearen luzera begiztetan (bucles) eta funtzioetan erabili ohi da; izan ere, horietan,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garrantzitsua baita katea noiz bukatzen den jakitea.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Stringak array gisa tratatu ditzakegu; hala, katearen azken karakterea lortu nahiko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bagenu, honako agindu honekin egin genezake:</a:t>
            </a:r>
            <a:endParaRPr sz="18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$katea[strlen($katea)-1]</a:t>
            </a:r>
            <a:endParaRPr sz="15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50"/>
          <p:cNvSpPr txBox="1"/>
          <p:nvPr>
            <p:ph type="title"/>
          </p:nvPr>
        </p:nvSpPr>
        <p:spPr>
          <a:xfrm>
            <a:off x="262775" y="0"/>
            <a:ext cx="72303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chemeClr val="hlink"/>
                </a:solidFill>
                <a:hlinkClick r:id="rId3"/>
              </a:rPr>
              <a:t>strpos</a:t>
            </a:r>
            <a:r>
              <a:rPr lang="en" sz="2600">
                <a:solidFill>
                  <a:srgbClr val="073763"/>
                </a:solidFill>
              </a:rPr>
              <a:t> () funtzioa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373" name="Google Shape;373;p50"/>
          <p:cNvSpPr txBox="1"/>
          <p:nvPr>
            <p:ph idx="1" type="body"/>
          </p:nvPr>
        </p:nvSpPr>
        <p:spPr>
          <a:xfrm>
            <a:off x="262775" y="727900"/>
            <a:ext cx="8526300" cy="4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r>
              <a:rPr lang="en" sz="1800"/>
              <a:t>atearen barruan karaktere zehatza bilatzeko erabiltzen da; topatzen baldin badu,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topatutako lehenengo posizioa itzuliko du; behin ere topatzen ez badu, aldiz, FALTSUA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itzuliko du. </a:t>
            </a:r>
            <a:r>
              <a:rPr i="1" lang="en" sz="1800">
                <a:solidFill>
                  <a:srgbClr val="A64D79"/>
                </a:solidFill>
              </a:rPr>
              <a:t>Zer erakutsiko luke honako kode honek?</a:t>
            </a:r>
            <a:endParaRPr i="1" sz="1800">
              <a:solidFill>
                <a:srgbClr val="A64D79"/>
              </a:solidFill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&lt;?php</a:t>
            </a:r>
            <a:endParaRPr sz="11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$cadena="Esto es una cadena un poco más larga";</a:t>
            </a:r>
            <a:endParaRPr sz="11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$car='c';</a:t>
            </a:r>
            <a:endParaRPr sz="11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$palabra="poco";</a:t>
            </a:r>
            <a:endParaRPr sz="11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$pos=strpos($cadena,$car);</a:t>
            </a:r>
            <a:endParaRPr sz="11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echo "La posición de la 1ª '$car': ",$pos,"&lt;br /&gt;";</a:t>
            </a:r>
            <a:endParaRPr sz="11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$pos=</a:t>
            </a:r>
            <a:r>
              <a:rPr lang="en" sz="1100">
                <a:solidFill>
                  <a:schemeClr val="accent1"/>
                </a:solidFill>
              </a:rPr>
              <a:t>strrpos</a:t>
            </a:r>
            <a:r>
              <a:rPr lang="en" sz="1100"/>
              <a:t>($cadena,$car);</a:t>
            </a:r>
            <a:endParaRPr sz="11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echo "La posición de la última '$car': ", $pos,"&lt;br /&gt;";</a:t>
            </a:r>
            <a:endParaRPr sz="11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$pos=strpos($cadena,$palabra);</a:t>
            </a:r>
            <a:endParaRPr sz="11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echo "La posición de la palabra '$palabra': ", $pos,"&lt;br /&gt;";</a:t>
            </a:r>
            <a:endParaRPr sz="11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?&gt;</a:t>
            </a:r>
            <a:endParaRPr sz="11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0"/>
          <p:cNvSpPr txBox="1"/>
          <p:nvPr/>
        </p:nvSpPr>
        <p:spPr>
          <a:xfrm>
            <a:off x="5425975" y="2079725"/>
            <a:ext cx="2978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KONTUZ</a:t>
            </a:r>
            <a:r>
              <a:rPr lang="en" sz="18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!</a:t>
            </a: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Kontuan izan behar da, halaber, kate-en hasierako posizioak 0-n hasten direla, eta ez 1-en.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75" name="Google Shape;375;p50"/>
          <p:cNvSpPr txBox="1"/>
          <p:nvPr/>
        </p:nvSpPr>
        <p:spPr>
          <a:xfrm>
            <a:off x="5530525" y="3667525"/>
            <a:ext cx="297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strrpost </a:t>
            </a: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-&gt; Azkeneko aldia agertzen dena bilatzen du.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376" name="Google Shape;376;p50"/>
          <p:cNvCxnSpPr>
            <a:stCxn id="375" idx="1"/>
          </p:cNvCxnSpPr>
          <p:nvPr/>
        </p:nvCxnSpPr>
        <p:spPr>
          <a:xfrm rot="10800000">
            <a:off x="2606425" y="3870775"/>
            <a:ext cx="2924100" cy="16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2" name="Google Shape;382;p51"/>
          <p:cNvSpPr txBox="1"/>
          <p:nvPr>
            <p:ph type="title"/>
          </p:nvPr>
        </p:nvSpPr>
        <p:spPr>
          <a:xfrm>
            <a:off x="262775" y="0"/>
            <a:ext cx="72303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chemeClr val="hlink"/>
                </a:solidFill>
                <a:hlinkClick r:id="rId3"/>
              </a:rPr>
              <a:t>substr</a:t>
            </a:r>
            <a:r>
              <a:rPr lang="en" sz="2600">
                <a:solidFill>
                  <a:srgbClr val="073763"/>
                </a:solidFill>
              </a:rPr>
              <a:t>() funtzioa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383" name="Google Shape;383;p51"/>
          <p:cNvSpPr txBox="1"/>
          <p:nvPr>
            <p:ph idx="1" type="body"/>
          </p:nvPr>
        </p:nvSpPr>
        <p:spPr>
          <a:xfrm>
            <a:off x="262775" y="727900"/>
            <a:ext cx="8526300" cy="4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Katearen zati bat itzultzen du.</a:t>
            </a:r>
            <a:endParaRPr sz="18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string </a:t>
            </a:r>
            <a:r>
              <a:rPr lang="en" sz="1800">
                <a:solidFill>
                  <a:srgbClr val="0091EA"/>
                </a:solidFill>
              </a:rPr>
              <a:t>substr </a:t>
            </a:r>
            <a:r>
              <a:rPr lang="en" sz="1800"/>
              <a:t>( string $string , int $start [, int $length ] )</a:t>
            </a:r>
            <a:endParaRPr sz="18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&lt;?php</a:t>
            </a:r>
            <a:endParaRPr sz="15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echo substr('abcdef', 1);     // bcdef</a:t>
            </a:r>
            <a:endParaRPr sz="15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echo substr('abcdef', 1, 3);  // bcd</a:t>
            </a:r>
            <a:endParaRPr sz="15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echo substr('abcdef', 0, 4);  // abcd</a:t>
            </a:r>
            <a:endParaRPr sz="15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echo substr('abcdef', 0, 8);  // abcdef</a:t>
            </a:r>
            <a:endParaRPr sz="15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echo substr('abcdef', -1, 1); // f    </a:t>
            </a:r>
            <a:r>
              <a:rPr i="1" lang="en" sz="1500">
                <a:solidFill>
                  <a:srgbClr val="980000"/>
                </a:solidFill>
              </a:rPr>
              <a:t>- Zergatik ematen du emaitza hau?</a:t>
            </a:r>
            <a:endParaRPr i="1" sz="1500">
              <a:solidFill>
                <a:srgbClr val="980000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?&gt;</a:t>
            </a:r>
            <a:endParaRPr sz="15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2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52"/>
          <p:cNvSpPr txBox="1"/>
          <p:nvPr>
            <p:ph type="title"/>
          </p:nvPr>
        </p:nvSpPr>
        <p:spPr>
          <a:xfrm>
            <a:off x="262775" y="0"/>
            <a:ext cx="72303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substr() funtzioa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390" name="Google Shape;390;p52"/>
          <p:cNvSpPr txBox="1"/>
          <p:nvPr>
            <p:ph idx="1" type="body"/>
          </p:nvPr>
        </p:nvSpPr>
        <p:spPr>
          <a:xfrm>
            <a:off x="262775" y="727900"/>
            <a:ext cx="8526300" cy="4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&lt;?php</a:t>
            </a:r>
            <a:endParaRPr sz="15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	// Start negatiboa erabiliz</a:t>
            </a:r>
            <a:endParaRPr sz="15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$rest = substr("abcdef", -1);    // devuelve "f"</a:t>
            </a:r>
            <a:endParaRPr sz="15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$rest = substr("abcdef", -2);    // devuelve "ef"</a:t>
            </a:r>
            <a:endParaRPr sz="1500"/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$rest = substr("abcdef", -3, 1); // devuelve "d"</a:t>
            </a:r>
            <a:endParaRPr sz="15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?&gt;</a:t>
            </a:r>
            <a:endParaRPr sz="15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3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53"/>
          <p:cNvSpPr txBox="1"/>
          <p:nvPr>
            <p:ph type="title"/>
          </p:nvPr>
        </p:nvSpPr>
        <p:spPr>
          <a:xfrm>
            <a:off x="262775" y="0"/>
            <a:ext cx="72303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Beste funtzio batzuk…..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397" name="Google Shape;397;p53"/>
          <p:cNvSpPr txBox="1"/>
          <p:nvPr>
            <p:ph idx="1" type="body"/>
          </p:nvPr>
        </p:nvSpPr>
        <p:spPr>
          <a:xfrm>
            <a:off x="262775" y="727900"/>
            <a:ext cx="8526300" cy="4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</a:rPr>
              <a:t>strstr() funtzioa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/>
              <a:t>Katearen barruan azpikatea topatzen du eta azpikatetik -azpikatea bera barneaurrerako katea itzultzen du osorik.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</a:rPr>
              <a:t>strtr() funtzioa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/>
              <a:t>Karaktereak bihurtzen ditu (edo substring-ak ordezkatu).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r>
              <a:rPr b="1" lang="en" sz="1900">
                <a:solidFill>
                  <a:schemeClr val="accent1"/>
                </a:solidFill>
              </a:rPr>
              <a:t>str_replace() funtzioa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/>
              <a:t>Bilatutako string-aren agerraldi guztiak ordezkatze-string-arekin ordezkatzen ditu.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</a:rPr>
              <a:t>substr_count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/>
              <a:t>Zenbat aldiz agertzen da substring bat string baten barruan. Letra larriz eta xehez sentikorra da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54"/>
          <p:cNvSpPr txBox="1"/>
          <p:nvPr>
            <p:ph type="title"/>
          </p:nvPr>
        </p:nvSpPr>
        <p:spPr>
          <a:xfrm>
            <a:off x="262775" y="0"/>
            <a:ext cx="72303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Beste funtzio batzuk…..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404" name="Google Shape;404;p54"/>
          <p:cNvSpPr txBox="1"/>
          <p:nvPr>
            <p:ph idx="1" type="body"/>
          </p:nvPr>
        </p:nvSpPr>
        <p:spPr>
          <a:xfrm>
            <a:off x="262775" y="727900"/>
            <a:ext cx="8526300" cy="4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</a:rPr>
              <a:t>substr_count() funtzioa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/>
              <a:t>Substring-aren agerraldi-kopurua zenbatzen du.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</a:rPr>
              <a:t>chr() funtzioa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/>
              <a:t>Parametro gisa pasatutako ASCII-kode zenbakiari dagokion karakterea itzultzen du.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/>
              <a:t>echo chr(65);// ‘A’ katea itzuliko luke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</a:rPr>
              <a:t>ord() funtzioa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/>
              <a:t>Aurrekoaren kontrako funtizoa da. Parametro gisa pasatutako karaktereari dagokion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/>
              <a:t>ASCII-kode zenbakia itzultzen du.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/>
              <a:t>echo ord(‘A’);// 65 zenbakia itzuliko luke</a:t>
            </a:r>
            <a:endParaRPr sz="19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55"/>
          <p:cNvSpPr txBox="1"/>
          <p:nvPr>
            <p:ph type="title"/>
          </p:nvPr>
        </p:nvSpPr>
        <p:spPr>
          <a:xfrm>
            <a:off x="262775" y="0"/>
            <a:ext cx="72303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Beste funtzio batzuk…..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411" name="Google Shape;411;p55"/>
          <p:cNvSpPr txBox="1"/>
          <p:nvPr>
            <p:ph idx="1" type="body"/>
          </p:nvPr>
        </p:nvSpPr>
        <p:spPr>
          <a:xfrm>
            <a:off x="262775" y="727900"/>
            <a:ext cx="8526300" cy="4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explode()</a:t>
            </a:r>
            <a:endParaRPr b="1" sz="18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Katea azpikatetan banatzen du.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array explode (string separator, string string [, int limit])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 rtrim(), ltrim(), trim().</a:t>
            </a:r>
            <a:r>
              <a:rPr lang="en" sz="1800"/>
              <a:t> 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Eskumako, ezkerreko edo alde bietako karaktereak ezabatzen dituzte.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strtolower() / strtoupper() 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Katearen hizki guztiak larri edo xehe bihurtzen ditu.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strcmp() / strcasecmp() 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Bi kate konparatzen dituzte letra larriak kontuan hartuta eta letra larriak kontuan hartu gabe, hurrenez hurren.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6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</a:t>
            </a:r>
            <a:r>
              <a:rPr lang="en"/>
              <a:t> </a:t>
            </a:r>
            <a:r>
              <a:rPr lang="en"/>
              <a:t>13</a:t>
            </a:r>
            <a:endParaRPr/>
          </a:p>
        </p:txBody>
      </p:sp>
      <p:sp>
        <p:nvSpPr>
          <p:cNvPr id="417" name="Google Shape;417;p5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56"/>
          <p:cNvSpPr txBox="1"/>
          <p:nvPr>
            <p:ph idx="4294967295" type="body"/>
          </p:nvPr>
        </p:nvSpPr>
        <p:spPr>
          <a:xfrm>
            <a:off x="557550" y="918050"/>
            <a:ext cx="8166900" cy="40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Aldagai $email bat sortu eta konprobatu strpos funtzioa erabiliz email helbide egokia dela.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  <p:pic>
        <p:nvPicPr>
          <p:cNvPr id="419" name="Google Shape;41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5550" y="2322481"/>
            <a:ext cx="5150900" cy="83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5550" y="3405107"/>
            <a:ext cx="5362702" cy="70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