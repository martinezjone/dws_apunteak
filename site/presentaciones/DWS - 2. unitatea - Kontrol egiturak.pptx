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6858000" cy="9144000"/>
  <p:embeddedFontLst>
    <p:embeddedFont>
      <p:font typeface="Roboto Slab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RobotoSlab-bold.fntdata"/><Relationship Id="rId23" Type="http://schemas.openxmlformats.org/officeDocument/2006/relationships/slide" Target="slides/slide19.xml"/><Relationship Id="rId45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3e0ed630e7_0_9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3e0ed630e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52f1335f29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52f1335f2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52f1335f29_0_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52f1335f2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941de166e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941de166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2f1335f29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52f1335f2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941de166e_0_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3941de166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e0ed630e7_0_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3e0ed630e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941de166e_0_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941de166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941de166e_0_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3941de166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3941de166e_0_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3941de166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941de166e_0_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3941de166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3941de166e_0_1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3941de166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3941de166e_0_1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3941de166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3941de166e_0_1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3941de166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3941de166e_0_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3941de166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52f1335f29_0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52f1335f2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3941de166e_0_1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3941de166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52f1335f2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52f1335f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3941de166e_0_1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3941de166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52f1335f29_0_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52f1335f2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3941de166e_0_1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3941de166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535b61d611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535b61d6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535b61d611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535b61d61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535b61d611_0_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535b61d61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3941de166e_0_1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3941de166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3950748bdb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3950748b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3950748bdb_0_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3950748bd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3950748bdb_0_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3950748bd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3950748bdb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3950748bd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3950748bdb_0_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3950748bd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3941de166e_0_1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3941de166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3950748bdb_0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3950748bd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3950748bdb_0_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3950748bd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3950748bdb_0_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3950748bd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3950748bdb_0_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3950748bd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fe813f4258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fe813f42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fe813f4258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fe813f42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fe813f4258_0_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fe813f425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19" r="19" t="0"/>
          <a:stretch/>
        </p:blipFill>
        <p:spPr>
          <a:xfrm flipH="1" rot="10800000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" type="body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i="1" sz="3600"/>
            </a:lvl1pPr>
            <a:lvl2pPr indent="-45720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i="1" sz="3600"/>
            </a:lvl2pPr>
            <a:lvl3pPr indent="-45720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i="1" sz="3600"/>
            </a:lvl3pPr>
            <a:lvl4pPr indent="-457200" lvl="3" marL="18288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4pPr>
            <a:lvl5pPr indent="-457200" lvl="4" marL="2286000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5pPr>
            <a:lvl6pPr indent="-457200" lvl="5" marL="2743200" rtl="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6pPr>
            <a:lvl7pPr indent="-457200" lvl="6" marL="32004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7pPr>
            <a:lvl8pPr indent="-457200" lvl="7" marL="3657600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8pPr>
            <a:lvl9pPr indent="-457200" lvl="8" marL="41148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9pPr>
          </a:lstStyle>
          <a:p/>
        </p:txBody>
      </p:sp>
      <p:grpSp>
        <p:nvGrpSpPr>
          <p:cNvPr id="32" name="Google Shape;32;p4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0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b="1" sz="60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cap="flat" cmpd="sng" w="9525">
              <a:solidFill>
                <a:srgbClr val="CFD8D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cap="flat" cmpd="sng" w="1905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" name="Google Shape;38;p4"/>
          <p:cNvCxnSpPr/>
          <p:nvPr/>
        </p:nvCxnSpPr>
        <p:spPr>
          <a:xfrm flipH="1" rot="10800000">
            <a:off x="4704510" y="351930"/>
            <a:ext cx="347100" cy="474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-87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3" type="body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" type="body"/>
          </p:nvPr>
        </p:nvSpPr>
        <p:spPr>
          <a:xfrm>
            <a:off x="457200" y="4055343"/>
            <a:ext cx="8229600" cy="3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-92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ctrTitle"/>
          </p:nvPr>
        </p:nvSpPr>
        <p:spPr>
          <a:xfrm>
            <a:off x="1824960" y="1173900"/>
            <a:ext cx="5807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 LENGOAIA</a:t>
            </a:r>
            <a:endParaRPr/>
          </a:p>
        </p:txBody>
      </p:sp>
      <p:sp>
        <p:nvSpPr>
          <p:cNvPr id="71" name="Google Shape;71;p12"/>
          <p:cNvSpPr txBox="1"/>
          <p:nvPr>
            <p:ph idx="4294967295" type="subTitle"/>
          </p:nvPr>
        </p:nvSpPr>
        <p:spPr>
          <a:xfrm>
            <a:off x="2020350" y="2179350"/>
            <a:ext cx="5295900" cy="15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/>
              <a:t>2. UNITATEA - KONTROL EGITURAK</a:t>
            </a:r>
            <a:endParaRPr b="1" sz="3600"/>
          </a:p>
        </p:txBody>
      </p:sp>
      <p:sp>
        <p:nvSpPr>
          <p:cNvPr id="72" name="Google Shape;72;p12"/>
          <p:cNvSpPr txBox="1"/>
          <p:nvPr>
            <p:ph idx="4294967295" type="body"/>
          </p:nvPr>
        </p:nvSpPr>
        <p:spPr>
          <a:xfrm>
            <a:off x="207975" y="3983700"/>
            <a:ext cx="52959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2"/>
                </a:solidFill>
              </a:rPr>
              <a:t>Web garapena zerbitzari-ingurunean</a:t>
            </a:r>
            <a:endParaRPr sz="2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/>
              <a:t>Txurdinaga 2024-25</a:t>
            </a:r>
            <a:endParaRPr sz="2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4"/>
                </a:solidFill>
              </a:rPr>
              <a:t>2</a:t>
            </a:r>
            <a:r>
              <a:rPr lang="en" sz="6000">
                <a:solidFill>
                  <a:schemeClr val="accent4"/>
                </a:solidFill>
              </a:rPr>
              <a:t>.</a:t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programazioa PHPrekin</a:t>
            </a:r>
            <a:endParaRPr/>
          </a:p>
        </p:txBody>
      </p:sp>
      <p:sp>
        <p:nvSpPr>
          <p:cNvPr id="78" name="Google Shape;78;p13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3"/>
          <p:cNvSpPr txBox="1"/>
          <p:nvPr>
            <p:ph type="ctrTitle"/>
          </p:nvPr>
        </p:nvSpPr>
        <p:spPr>
          <a:xfrm>
            <a:off x="1546025" y="3333023"/>
            <a:ext cx="58326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Char char="-"/>
            </a:pPr>
            <a:r>
              <a:rPr b="0" lang="en" sz="3000">
                <a:solidFill>
                  <a:schemeClr val="accent3"/>
                </a:solidFill>
              </a:rPr>
              <a:t>Kontrol estrukturak</a:t>
            </a:r>
            <a:endParaRPr b="0" sz="3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546900" y="1110550"/>
            <a:ext cx="75717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PHP programaren flujua zehazteko, beste lengoaia gehienetan bezala, bi kontrol egitura daude: </a:t>
            </a:r>
            <a:r>
              <a:rPr lang="en" sz="2100">
                <a:solidFill>
                  <a:schemeClr val="accent1"/>
                </a:solidFill>
              </a:rPr>
              <a:t>baldintzazkoak</a:t>
            </a:r>
            <a:r>
              <a:rPr lang="en" sz="2100"/>
              <a:t>, sententzia edo sententzia-multzoa zein baldintzatan exekutatu behar den zehazteko; begiztak, sententzia edo sententzia-multzoa zein baldintzatan </a:t>
            </a:r>
            <a:r>
              <a:rPr lang="en" sz="2100">
                <a:solidFill>
                  <a:schemeClr val="accent1"/>
                </a:solidFill>
              </a:rPr>
              <a:t>errepikatu </a:t>
            </a:r>
            <a:r>
              <a:rPr lang="en" sz="2100"/>
              <a:t>behar den zehazteko.</a:t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Gainera, </a:t>
            </a:r>
            <a:r>
              <a:rPr lang="en" sz="2100">
                <a:solidFill>
                  <a:schemeClr val="accent1"/>
                </a:solidFill>
              </a:rPr>
              <a:t>goto</a:t>
            </a:r>
            <a:r>
              <a:rPr lang="en" sz="2100"/>
              <a:t> sententzia ere erabili dezakegu; sententzia horri esker, programaren edozein tokira bidali dezakegu exekuzio-flujua,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4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Kontrol egiturak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5"/>
          <p:cNvSpPr txBox="1"/>
          <p:nvPr>
            <p:ph idx="4294967295"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2"/>
                </a:solidFill>
              </a:rPr>
              <a:t>Baldintzazkoak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786150" y="1110550"/>
            <a:ext cx="75717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</a:rPr>
              <a:t>if</a:t>
            </a:r>
            <a:r>
              <a:rPr lang="en" sz="2200"/>
              <a:t>-ekin adierazpen bat sortu dezakegu; sententzia edo sententzia multzoa exekutatzeko ala ez exekutatzeko erabiltzen dugu adierazpen hori; adierazpena </a:t>
            </a:r>
            <a:r>
              <a:rPr lang="en" sz="2200">
                <a:solidFill>
                  <a:schemeClr val="accent1"/>
                </a:solidFill>
              </a:rPr>
              <a:t>true </a:t>
            </a:r>
            <a:r>
              <a:rPr lang="en" sz="2200"/>
              <a:t>gisa ebaluatzen baldin bada, sententzia exekutatzen da; bestela, ez.</a:t>
            </a:r>
            <a:endParaRPr sz="22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Emaitza </a:t>
            </a:r>
            <a:r>
              <a:rPr lang="en" sz="2200">
                <a:solidFill>
                  <a:schemeClr val="accent1"/>
                </a:solidFill>
              </a:rPr>
              <a:t>false </a:t>
            </a:r>
            <a:r>
              <a:rPr lang="en" sz="2200"/>
              <a:t>denean, halere </a:t>
            </a:r>
            <a:r>
              <a:rPr lang="en" sz="2200">
                <a:solidFill>
                  <a:schemeClr val="accent1"/>
                </a:solidFill>
              </a:rPr>
              <a:t>else </a:t>
            </a:r>
            <a:r>
              <a:rPr lang="en" sz="2200"/>
              <a:t>erabili dezakegu adierazteko kasu honetan exekutatu beharreko sententzia edo sententzia-multzoa; baldintza berria hasteko, </a:t>
            </a:r>
            <a:r>
              <a:rPr lang="en" sz="2200">
                <a:solidFill>
                  <a:schemeClr val="accent1"/>
                </a:solidFill>
              </a:rPr>
              <a:t>elseif </a:t>
            </a:r>
            <a:r>
              <a:rPr lang="en" sz="2200"/>
              <a:t>erabili daiteke.</a:t>
            </a:r>
            <a:endParaRPr sz="2200"/>
          </a:p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t/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6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Baldintzazkoak. </a:t>
            </a:r>
            <a:r>
              <a:rPr lang="en" sz="2600"/>
              <a:t>If...else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Baldintzazkoak. </a:t>
            </a:r>
            <a:r>
              <a:rPr lang="en" sz="2600"/>
              <a:t>If...else</a:t>
            </a:r>
            <a:endParaRPr sz="2600"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650" y="1256357"/>
            <a:ext cx="6479250" cy="302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786150" y="1110550"/>
            <a:ext cx="75717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Baldintzazkoak. </a:t>
            </a:r>
            <a:r>
              <a:rPr lang="en" sz="2600"/>
              <a:t>If...else</a:t>
            </a:r>
            <a:endParaRPr sz="2600"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786150" y="1110550"/>
            <a:ext cx="75717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&lt;?php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/* 	BALDINTZAK: IF..ELSE 	*/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$x=4;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if ($x&lt;5)  {        // x 5 baino txikiagoa bada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	echo "&lt;b&gt; Ez duzu gainditu. &lt;/b&gt;";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} else {  // x 5 edo handiagoa bada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	echo "&lt;b&gt; Zorionak &lt;/b&gt;";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?&gt;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4</a:t>
            </a:r>
            <a:endParaRPr/>
          </a:p>
        </p:txBody>
      </p:sp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9"/>
          <p:cNvSpPr txBox="1"/>
          <p:nvPr>
            <p:ph idx="4294967295" type="body"/>
          </p:nvPr>
        </p:nvSpPr>
        <p:spPr>
          <a:xfrm>
            <a:off x="557550" y="918050"/>
            <a:ext cx="8166900" cy="19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Sortu aldagai bat adinarekin eta konprobatu 18 urte baino gehiago baldin baditu. Nagusiagoa baldin bada “Pasa zaitezke” mezua erakutsi eta </a:t>
            </a:r>
            <a:r>
              <a:rPr lang="en" sz="2000"/>
              <a:t>gazteagoa</a:t>
            </a:r>
            <a:r>
              <a:rPr lang="en" sz="2000"/>
              <a:t> baldin bada “Ondino adingabekoa zara, ezin zara pasatu”.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938550" y="247844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5</a:t>
            </a:r>
            <a:endParaRPr/>
          </a:p>
        </p:txBody>
      </p:sp>
      <p:sp>
        <p:nvSpPr>
          <p:cNvPr id="123" name="Google Shape;123;p19"/>
          <p:cNvSpPr txBox="1"/>
          <p:nvPr>
            <p:ph idx="4294967295" type="body"/>
          </p:nvPr>
        </p:nvSpPr>
        <p:spPr>
          <a:xfrm>
            <a:off x="709950" y="3088375"/>
            <a:ext cx="8166900" cy="19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Badugu zenbaki bat aldagai baten. 0 eta 10 artekoa baldin bada, zenbakia pantailan agertu behar da (Adib: Zenbakia 2 da), bestela hurrengo mezua hau erakutsiko dugu: “Zenbakia ez dago 0 eta 10en artean”.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557550" y="1109300"/>
            <a:ext cx="8166900" cy="38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Balio bakoitza </a:t>
            </a:r>
            <a:r>
              <a:rPr lang="en" sz="2200">
                <a:solidFill>
                  <a:schemeClr val="accent1"/>
                </a:solidFill>
              </a:rPr>
              <a:t>case </a:t>
            </a:r>
            <a:r>
              <a:rPr lang="en" sz="2200"/>
              <a:t>sententziaren barruan doa.</a:t>
            </a:r>
            <a:endParaRPr sz="2200"/>
          </a:p>
          <a:p>
            <a:pPr indent="-3683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Bateragarritasuna topatzean, ondorengo sententziak exekutatzen dira </a:t>
            </a:r>
            <a:r>
              <a:rPr lang="en" sz="2200">
                <a:solidFill>
                  <a:schemeClr val="accent1"/>
                </a:solidFill>
              </a:rPr>
              <a:t>switch </a:t>
            </a:r>
            <a:r>
              <a:rPr lang="en" sz="2200"/>
              <a:t>blokea amaitu arte -edo </a:t>
            </a:r>
            <a:r>
              <a:rPr lang="en" sz="2200">
                <a:solidFill>
                  <a:schemeClr val="accent1"/>
                </a:solidFill>
              </a:rPr>
              <a:t>break </a:t>
            </a:r>
            <a:r>
              <a:rPr lang="en" sz="2200"/>
              <a:t>sentenzia topatu arte-</a:t>
            </a:r>
            <a:endParaRPr sz="2200"/>
          </a:p>
          <a:p>
            <a:pPr indent="-368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Bateragarritasunik topatu ezean, ordea, default blokekoa exekutatuko da.</a:t>
            </a:r>
            <a:endParaRPr sz="22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</a:rPr>
              <a:t>Break </a:t>
            </a:r>
            <a:r>
              <a:rPr lang="en" sz="2200"/>
              <a:t>eta </a:t>
            </a:r>
            <a:r>
              <a:rPr lang="en" sz="2200">
                <a:solidFill>
                  <a:schemeClr val="accent1"/>
                </a:solidFill>
              </a:rPr>
              <a:t>default </a:t>
            </a:r>
            <a:r>
              <a:rPr lang="en" sz="2200"/>
              <a:t>aukerazkoak dira, baina break jartzea guztiz gomendagarria da.</a:t>
            </a:r>
            <a:endParaRPr sz="2200"/>
          </a:p>
        </p:txBody>
      </p:sp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Baldintzazkoak. </a:t>
            </a:r>
            <a:r>
              <a:rPr lang="en" sz="2600"/>
              <a:t>Switch</a:t>
            </a:r>
            <a:endParaRPr b="1"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1"/>
          <p:cNvSpPr txBox="1"/>
          <p:nvPr>
            <p:ph type="title"/>
          </p:nvPr>
        </p:nvSpPr>
        <p:spPr>
          <a:xfrm>
            <a:off x="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Baldintzazkoak. </a:t>
            </a:r>
            <a:r>
              <a:rPr lang="en" sz="2600"/>
              <a:t>Switch</a:t>
            </a:r>
            <a:endParaRPr b="1" sz="2600"/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374" y="421200"/>
            <a:ext cx="6688025" cy="46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786150" y="1110550"/>
            <a:ext cx="75717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2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Baldintzazkoak. </a:t>
            </a:r>
            <a:r>
              <a:rPr lang="en" sz="2600"/>
              <a:t>Switch</a:t>
            </a:r>
            <a:endParaRPr sz="2600"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86150" y="904300"/>
            <a:ext cx="7571700" cy="39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&lt;?php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switch ($a) { 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case 0: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 "a aldagaiak 0 balio du"; 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break;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case 1: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 "</a:t>
            </a: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 aldagaiak 1 balio du</a:t>
            </a: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"; 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break;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Default: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 "</a:t>
            </a: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 aldagaiak ez du ez 0  ezta 1 balio</a:t>
            </a: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";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?&gt;</a:t>
            </a:r>
            <a:endParaRPr sz="1400"/>
          </a:p>
        </p:txBody>
      </p:sp>
      <p:sp>
        <p:nvSpPr>
          <p:cNvPr id="146" name="Google Shape;146;p22"/>
          <p:cNvSpPr txBox="1"/>
          <p:nvPr/>
        </p:nvSpPr>
        <p:spPr>
          <a:xfrm>
            <a:off x="5669675" y="343600"/>
            <a:ext cx="316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Case adierazpenak edozein adierazpen mota sinpleduna ebaluatu dezake, hau da, zenbaki osoak edo puntu flotatzailea eta kateak testua.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47" name="Google Shape;147;p22"/>
          <p:cNvCxnSpPr>
            <a:stCxn id="146" idx="1"/>
          </p:cNvCxnSpPr>
          <p:nvPr/>
        </p:nvCxnSpPr>
        <p:spPr>
          <a:xfrm flipH="1">
            <a:off x="2786075" y="866950"/>
            <a:ext cx="2883600" cy="62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228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6</a:t>
            </a:r>
            <a:endParaRPr/>
          </a:p>
        </p:txBody>
      </p:sp>
      <p:sp>
        <p:nvSpPr>
          <p:cNvPr id="153" name="Google Shape;153;p2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3"/>
          <p:cNvSpPr txBox="1"/>
          <p:nvPr>
            <p:ph idx="4294967295" type="body"/>
          </p:nvPr>
        </p:nvSpPr>
        <p:spPr>
          <a:xfrm>
            <a:off x="568100" y="611750"/>
            <a:ext cx="81669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Idatzi swich sententziarekin IF sententziarekin egindako honako ariketa hau: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  <p:sp>
        <p:nvSpPr>
          <p:cNvPr id="155" name="Google Shape;155;p23"/>
          <p:cNvSpPr txBox="1"/>
          <p:nvPr>
            <p:ph idx="4294967295" type="body"/>
          </p:nvPr>
        </p:nvSpPr>
        <p:spPr>
          <a:xfrm>
            <a:off x="2494200" y="1191375"/>
            <a:ext cx="5542800" cy="37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&lt;?php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$aldagaia=2;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 ($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aldagaia 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== 1)  {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echo '$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aldagaia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berdin 1.';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 else if ($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aldagaia 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== 2) {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echo '$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aldagaia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berdin 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2.';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 elseif ($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aldagaia 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== 3) {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echo '$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aldagaia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berdin 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3.';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 else {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echo '$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aldagaia</a:t>
            </a: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ez da ez 1, ez 2 ezta  3.';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?&gt;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557550" y="1109300"/>
            <a:ext cx="8166900" cy="38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</a:rPr>
              <a:t>AND - &amp;&amp;</a:t>
            </a:r>
            <a:endParaRPr sz="22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Baldintza guztiak betetzen direnean</a:t>
            </a:r>
            <a:endParaRPr sz="22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 ($i &gt; 1 &amp;&amp; $i &lt;3){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echo “i aldagaiaren balioa 2 da”;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i="1"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4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Operadore logikoak</a:t>
            </a:r>
            <a:endParaRPr b="1"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557550" y="1109300"/>
            <a:ext cx="8395500" cy="38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</a:rPr>
              <a:t>OR </a:t>
            </a:r>
            <a:r>
              <a:rPr lang="en" sz="2200">
                <a:solidFill>
                  <a:schemeClr val="accent1"/>
                </a:solidFill>
              </a:rPr>
              <a:t>- ||</a:t>
            </a:r>
            <a:endParaRPr sz="22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Baldintza bat behintzat betetzen denean</a:t>
            </a:r>
            <a:endParaRPr sz="22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62865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 ($izena==“Aimar” || $izena==“Jon” || $izena==“Unai”){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2865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echo “Ongi etorri $izena !!”;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2865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i="1"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25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Operadore logikoak</a:t>
            </a:r>
            <a:endParaRPr b="1"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557550" y="1109300"/>
            <a:ext cx="8166900" cy="38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</a:rPr>
              <a:t>X</a:t>
            </a:r>
            <a:r>
              <a:rPr lang="en" sz="2200">
                <a:solidFill>
                  <a:schemeClr val="accent1"/>
                </a:solidFill>
              </a:rPr>
              <a:t>OR</a:t>
            </a:r>
            <a:endParaRPr sz="22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Baldintza bat bakarrik betetzen denean</a:t>
            </a:r>
            <a:endParaRPr sz="22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 ($zenbakia==2 xor $zenbakia==5){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echo “Zenbaki bakarrik asmatu duzu”;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i="1" sz="1800"/>
          </a:p>
          <a:p>
            <a:pPr indent="0" lvl="0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26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Operadore logikoak</a:t>
            </a:r>
            <a:endParaRPr b="1"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7228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7</a:t>
            </a:r>
            <a:endParaRPr/>
          </a:p>
        </p:txBody>
      </p:sp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7"/>
          <p:cNvSpPr txBox="1"/>
          <p:nvPr>
            <p:ph idx="4294967295" type="body"/>
          </p:nvPr>
        </p:nvSpPr>
        <p:spPr>
          <a:xfrm>
            <a:off x="568100" y="611750"/>
            <a:ext cx="81669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Idatzi programa bat 3 aldagaiekin, </a:t>
            </a:r>
            <a:r>
              <a:rPr i="1" lang="en" sz="2000"/>
              <a:t>$izena</a:t>
            </a:r>
            <a:r>
              <a:rPr lang="en" sz="2000"/>
              <a:t>, </a:t>
            </a:r>
            <a:r>
              <a:rPr i="1" lang="en" sz="2000"/>
              <a:t>$abizen1</a:t>
            </a:r>
            <a:r>
              <a:rPr lang="en" sz="2000"/>
              <a:t> eta </a:t>
            </a:r>
            <a:r>
              <a:rPr i="1" lang="en" sz="2000"/>
              <a:t>$abizen2</a:t>
            </a:r>
            <a:r>
              <a:rPr lang="en" sz="2000"/>
              <a:t>. 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Ongi etorria emango diogu pertsona horri bere izena “</a:t>
            </a:r>
            <a:r>
              <a:rPr i="1" lang="en" sz="2000"/>
              <a:t>Garazi</a:t>
            </a:r>
            <a:r>
              <a:rPr lang="en" sz="2000"/>
              <a:t>” baldin bada </a:t>
            </a:r>
            <a:r>
              <a:rPr b="1" lang="en" sz="2000"/>
              <a:t>edo </a:t>
            </a:r>
            <a:r>
              <a:rPr lang="en" sz="2000"/>
              <a:t>bere abizenak “</a:t>
            </a:r>
            <a:r>
              <a:rPr i="1" lang="en" sz="2000"/>
              <a:t>Olabarria Iriondo</a:t>
            </a:r>
            <a:r>
              <a:rPr lang="en" sz="2000"/>
              <a:t>” baldin badira. 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Horrela ez izanez gero, hurrengo mezua erakutsiko dugu “</a:t>
            </a:r>
            <a:r>
              <a:rPr i="1" lang="en" sz="2000"/>
              <a:t>Ez du sarbiderik</a:t>
            </a:r>
            <a:r>
              <a:rPr lang="en" sz="2000"/>
              <a:t>”.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8"/>
          <p:cNvSpPr txBox="1"/>
          <p:nvPr>
            <p:ph idx="4294967295"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2"/>
                </a:solidFill>
              </a:rPr>
              <a:t>Iterazioak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5" name="Google Shape;1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350" y="55025"/>
            <a:ext cx="8547751" cy="508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Iterazioak.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786150" y="778800"/>
            <a:ext cx="8100600" cy="42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Kontagailu baten balioaren arabera, zehaztutako kode-lerroak exekutatuko dira.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</a:t>
            </a:r>
            <a:endParaRPr sz="14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 ($x = 0; $x &lt;= 10; $x++) {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	/* Aldagaiaren balioari 1 gehitu zaio ziklo bakoitzean*/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	echo "X aldagaiaren balioa: $x &lt;br&gt;";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</a:t>
            </a:r>
            <a:endParaRPr sz="2000"/>
          </a:p>
        </p:txBody>
      </p:sp>
      <p:sp>
        <p:nvSpPr>
          <p:cNvPr id="202" name="Google Shape;202;p3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0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Iterazioak. </a:t>
            </a:r>
            <a:r>
              <a:rPr lang="en" sz="2600"/>
              <a:t>For</a:t>
            </a:r>
            <a:endParaRPr sz="2600"/>
          </a:p>
        </p:txBody>
      </p:sp>
      <p:sp>
        <p:nvSpPr>
          <p:cNvPr id="204" name="Google Shape;204;p30"/>
          <p:cNvSpPr txBox="1"/>
          <p:nvPr/>
        </p:nvSpPr>
        <p:spPr>
          <a:xfrm>
            <a:off x="1460600" y="1758650"/>
            <a:ext cx="1151100" cy="4002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hasieratzea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3785500" y="1710800"/>
            <a:ext cx="1151100" cy="4002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amaiera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6110400" y="1758650"/>
            <a:ext cx="1151100" cy="4002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gehikuntza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07" name="Google Shape;207;p30"/>
          <p:cNvCxnSpPr>
            <a:stCxn id="204" idx="2"/>
          </p:cNvCxnSpPr>
          <p:nvPr/>
        </p:nvCxnSpPr>
        <p:spPr>
          <a:xfrm>
            <a:off x="2036150" y="2158850"/>
            <a:ext cx="269400" cy="529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30"/>
          <p:cNvCxnSpPr>
            <a:stCxn id="205" idx="2"/>
          </p:cNvCxnSpPr>
          <p:nvPr/>
        </p:nvCxnSpPr>
        <p:spPr>
          <a:xfrm flipH="1">
            <a:off x="3759850" y="2111000"/>
            <a:ext cx="601200" cy="571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30"/>
          <p:cNvCxnSpPr/>
          <p:nvPr/>
        </p:nvCxnSpPr>
        <p:spPr>
          <a:xfrm flipH="1">
            <a:off x="4936600" y="2201750"/>
            <a:ext cx="1468200" cy="485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31"/>
          <p:cNvCxnSpPr/>
          <p:nvPr/>
        </p:nvCxnSpPr>
        <p:spPr>
          <a:xfrm flipH="1" rot="10800000">
            <a:off x="6805299" y="540952"/>
            <a:ext cx="143700" cy="377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31"/>
          <p:cNvCxnSpPr/>
          <p:nvPr/>
        </p:nvCxnSpPr>
        <p:spPr>
          <a:xfrm flipH="1">
            <a:off x="7451750" y="1182125"/>
            <a:ext cx="337200" cy="131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31"/>
          <p:cNvCxnSpPr>
            <a:endCxn id="217" idx="6"/>
          </p:cNvCxnSpPr>
          <p:nvPr/>
        </p:nvCxnSpPr>
        <p:spPr>
          <a:xfrm rot="10800000">
            <a:off x="7601250" y="1836015"/>
            <a:ext cx="998100" cy="98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1"/>
          <p:cNvSpPr txBox="1"/>
          <p:nvPr>
            <p:ph idx="4294967295"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Bukle infinitua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220" name="Google Shape;220;p31"/>
          <p:cNvSpPr txBox="1"/>
          <p:nvPr>
            <p:ph idx="4294967295" type="body"/>
          </p:nvPr>
        </p:nvSpPr>
        <p:spPr>
          <a:xfrm>
            <a:off x="557550" y="918050"/>
            <a:ext cx="8166900" cy="4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Bukleekin izan dezakegun arazo garrantzitsuena, bukle infinitu bat sortzea da, hau da: inoiz amaitzen ez den buklea. 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Hori gertatzen da baldintza betetzen denean beti.</a:t>
            </a:r>
            <a:endParaRPr sz="2000"/>
          </a:p>
          <a:p>
            <a:pPr indent="0" lvl="0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t/>
            </a:r>
            <a:endParaRPr sz="2000"/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2612213"/>
            <a:ext cx="571500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Google Shape;226;p32"/>
          <p:cNvCxnSpPr/>
          <p:nvPr/>
        </p:nvCxnSpPr>
        <p:spPr>
          <a:xfrm flipH="1" rot="10800000">
            <a:off x="6805299" y="540952"/>
            <a:ext cx="143700" cy="377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2"/>
          <p:cNvCxnSpPr/>
          <p:nvPr/>
        </p:nvCxnSpPr>
        <p:spPr>
          <a:xfrm flipH="1">
            <a:off x="7451750" y="1182125"/>
            <a:ext cx="337200" cy="131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2"/>
          <p:cNvCxnSpPr>
            <a:endCxn id="229" idx="6"/>
          </p:cNvCxnSpPr>
          <p:nvPr/>
        </p:nvCxnSpPr>
        <p:spPr>
          <a:xfrm rot="10800000">
            <a:off x="7601250" y="1836015"/>
            <a:ext cx="998100" cy="98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3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32"/>
          <p:cNvSpPr txBox="1"/>
          <p:nvPr>
            <p:ph idx="4294967295"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Bukle infinitua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232" name="Google Shape;232;p32"/>
          <p:cNvSpPr txBox="1"/>
          <p:nvPr>
            <p:ph idx="4294967295" type="body"/>
          </p:nvPr>
        </p:nvSpPr>
        <p:spPr>
          <a:xfrm>
            <a:off x="557550" y="918050"/>
            <a:ext cx="8166900" cy="4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Beste kasu honetan, gehikuntza egiteko erabiltzen dugun aldagaia inoiz ez da aldatzen </a:t>
            </a:r>
            <a:endParaRPr sz="2000"/>
          </a:p>
          <a:p>
            <a:pPr indent="0" lvl="0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33" name="Google Shape;2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850" y="2174713"/>
            <a:ext cx="46863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idx="1" type="body"/>
          </p:nvPr>
        </p:nvSpPr>
        <p:spPr>
          <a:xfrm>
            <a:off x="786150" y="778800"/>
            <a:ext cx="8100600" cy="42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>
                <a:solidFill>
                  <a:schemeClr val="accent1"/>
                </a:solidFill>
              </a:rPr>
              <a:t>Bukle anidatua</a:t>
            </a:r>
            <a:r>
              <a:rPr lang="en" sz="2000"/>
              <a:t> dela esaten dugu, bukle bat dagoenean beste bloke bateko sententzia blokean.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Bukleek edozein maila izan dezakete, bukle bat beste baten barruan, eta barruan beste bat etab….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Bestearen barruan dagoen bukleari </a:t>
            </a:r>
            <a:r>
              <a:rPr lang="en" sz="2000">
                <a:solidFill>
                  <a:schemeClr val="accent2"/>
                </a:solidFill>
              </a:rPr>
              <a:t>barne-buklea</a:t>
            </a:r>
            <a:r>
              <a:rPr lang="en" sz="2000"/>
              <a:t> deritzogu.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Beste buklea </a:t>
            </a:r>
            <a:r>
              <a:rPr lang="en" sz="2000">
                <a:solidFill>
                  <a:schemeClr val="accent2"/>
                </a:solidFill>
              </a:rPr>
              <a:t>kanpo-buklea</a:t>
            </a:r>
            <a:r>
              <a:rPr lang="en" sz="2000"/>
              <a:t> litzateke.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Bukle bat baino gehiago elkartzen ditugunean kontuz ibili aldagaiekin, hoberena aldagai ezberdinak erabiltzea izango litzateke iterazioak egiterakoan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239" name="Google Shape;239;p3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33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Bukle bat beste baten barruan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4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Bukle bat beste baten barruan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247" name="Google Shape;2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950" y="1190626"/>
            <a:ext cx="6746700" cy="32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type="title"/>
          </p:nvPr>
        </p:nvSpPr>
        <p:spPr>
          <a:xfrm>
            <a:off x="7228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8</a:t>
            </a:r>
            <a:endParaRPr/>
          </a:p>
        </p:txBody>
      </p:sp>
      <p:sp>
        <p:nvSpPr>
          <p:cNvPr id="253" name="Google Shape;253;p3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35"/>
          <p:cNvSpPr txBox="1"/>
          <p:nvPr>
            <p:ph idx="4294967295" type="body"/>
          </p:nvPr>
        </p:nvSpPr>
        <p:spPr>
          <a:xfrm>
            <a:off x="568100" y="611750"/>
            <a:ext cx="81669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Idatzi programa bat biderketa taula pantailan idazteko. Horretarako aldagai bat sortuko dugu $zenbakia eta horren biderketa taula egingo dugu FOR estrukturarekin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  <p:pic>
        <p:nvPicPr>
          <p:cNvPr id="255" name="Google Shape;25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600" y="1948725"/>
            <a:ext cx="3555325" cy="270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type="title"/>
          </p:nvPr>
        </p:nvSpPr>
        <p:spPr>
          <a:xfrm>
            <a:off x="7228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9</a:t>
            </a:r>
            <a:endParaRPr/>
          </a:p>
        </p:txBody>
      </p:sp>
      <p:sp>
        <p:nvSpPr>
          <p:cNvPr id="261" name="Google Shape;261;p3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36"/>
          <p:cNvSpPr txBox="1"/>
          <p:nvPr>
            <p:ph idx="4294967295" type="body"/>
          </p:nvPr>
        </p:nvSpPr>
        <p:spPr>
          <a:xfrm>
            <a:off x="568100" y="611750"/>
            <a:ext cx="81669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For anidatuak erabiliz ondorengo taula moduko bat sortu. Horretarako html kodea sartu behar duzu.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  <p:pic>
        <p:nvPicPr>
          <p:cNvPr id="263" name="Google Shape;26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997" y="1637350"/>
            <a:ext cx="3150000" cy="28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7228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10</a:t>
            </a:r>
            <a:endParaRPr/>
          </a:p>
        </p:txBody>
      </p:sp>
      <p:sp>
        <p:nvSpPr>
          <p:cNvPr id="269" name="Google Shape;269;p3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7"/>
          <p:cNvSpPr txBox="1"/>
          <p:nvPr>
            <p:ph idx="4294967295" type="body"/>
          </p:nvPr>
        </p:nvSpPr>
        <p:spPr>
          <a:xfrm>
            <a:off x="568100" y="611750"/>
            <a:ext cx="81669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Pantailan erakutsi 5 eta 50 zenbakien barruan dauden zenbaki bikoitiak koma batekin banandurik. Azkeneko koma ez jarri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  <p:pic>
        <p:nvPicPr>
          <p:cNvPr id="271" name="Google Shape;27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475" y="2051587"/>
            <a:ext cx="6982900" cy="134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>
            <p:ph idx="1" type="body"/>
          </p:nvPr>
        </p:nvSpPr>
        <p:spPr>
          <a:xfrm>
            <a:off x="786150" y="778800"/>
            <a:ext cx="8100600" cy="31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Baldintza bat betetzen den bitartean, zehaztutako kode-lerroak xekutatuko dira.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Aldagaia aldatzen joan behar du bukle infinito baten sartu ez gaitezen.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</a:t>
            </a: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&lt;?php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$a = 1;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while ($a &lt; 8)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$a += 3;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 $a; // Lortutako emaitza 10 da.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?&gt;</a:t>
            </a:r>
            <a:endParaRPr sz="15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77" name="Google Shape;277;p3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8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Iterazioak. </a:t>
            </a:r>
            <a:r>
              <a:rPr lang="en" sz="2600"/>
              <a:t>while</a:t>
            </a:r>
            <a:endParaRPr sz="2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39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Iterazioak. </a:t>
            </a:r>
            <a:r>
              <a:rPr lang="en" sz="2600"/>
              <a:t>while</a:t>
            </a:r>
            <a:endParaRPr sz="2600"/>
          </a:p>
        </p:txBody>
      </p:sp>
      <p:pic>
        <p:nvPicPr>
          <p:cNvPr id="285" name="Google Shape;28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700" y="865545"/>
            <a:ext cx="659130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/>
          <p:cNvSpPr txBox="1"/>
          <p:nvPr>
            <p:ph type="title"/>
          </p:nvPr>
        </p:nvSpPr>
        <p:spPr>
          <a:xfrm>
            <a:off x="7228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11</a:t>
            </a:r>
            <a:endParaRPr/>
          </a:p>
        </p:txBody>
      </p:sp>
      <p:sp>
        <p:nvSpPr>
          <p:cNvPr id="291" name="Google Shape;291;p4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40"/>
          <p:cNvSpPr txBox="1"/>
          <p:nvPr>
            <p:ph idx="4294967295" type="body"/>
          </p:nvPr>
        </p:nvSpPr>
        <p:spPr>
          <a:xfrm>
            <a:off x="568100" y="611750"/>
            <a:ext cx="81669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Idatzi programa bat biderketa taula pantailan idazteko. Horretarako aldagai bat sortuko dugu $zenbakia eta horren biderketa taula egingo dugu, kasu honetan WHILE estrukturarekin egingo dugu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  <p:pic>
        <p:nvPicPr>
          <p:cNvPr id="293" name="Google Shape;29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600" y="2101125"/>
            <a:ext cx="3555325" cy="270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41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Iterazioak. </a:t>
            </a:r>
            <a:r>
              <a:rPr lang="en" sz="2600"/>
              <a:t>Do - while</a:t>
            </a:r>
            <a:endParaRPr sz="2600"/>
          </a:p>
        </p:txBody>
      </p:sp>
      <p:pic>
        <p:nvPicPr>
          <p:cNvPr id="300" name="Google Shape;30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00" y="1150727"/>
            <a:ext cx="7937575" cy="3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>
            <p:ph idx="1" type="body"/>
          </p:nvPr>
        </p:nvSpPr>
        <p:spPr>
          <a:xfrm>
            <a:off x="786150" y="778800"/>
            <a:ext cx="8100600" cy="4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Aurrekoaren antzeko begizta da; kasu honetan, ordea, bukaeran ebaluatzen da adierazpena; beraz, begiztaren sententzia edo sententzia multzoa </a:t>
            </a:r>
            <a:r>
              <a:rPr lang="en" sz="2000">
                <a:solidFill>
                  <a:schemeClr val="accent2"/>
                </a:solidFill>
              </a:rPr>
              <a:t>behintzat behin exekutatuko da</a:t>
            </a:r>
            <a:r>
              <a:rPr lang="en" sz="2000"/>
              <a:t>.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&lt;?php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$a = 5;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$a -= 3;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while ($a &gt; 10);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 $a;//Begizta behin baino ez da exekutatzen; 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			 //hortaz, lortutakobalioa 2 da.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?&gt;</a:t>
            </a:r>
            <a:endParaRPr sz="14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06" name="Google Shape;306;p4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42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Iterazioak. </a:t>
            </a:r>
            <a:r>
              <a:rPr lang="en" sz="2600"/>
              <a:t>Do - while</a:t>
            </a:r>
            <a:endParaRPr sz="2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/>
          <p:nvPr>
            <p:ph type="title"/>
          </p:nvPr>
        </p:nvSpPr>
        <p:spPr>
          <a:xfrm>
            <a:off x="7228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12</a:t>
            </a:r>
            <a:endParaRPr/>
          </a:p>
        </p:txBody>
      </p:sp>
      <p:sp>
        <p:nvSpPr>
          <p:cNvPr id="313" name="Google Shape;313;p4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43"/>
          <p:cNvSpPr txBox="1"/>
          <p:nvPr>
            <p:ph idx="4294967295" type="body"/>
          </p:nvPr>
        </p:nvSpPr>
        <p:spPr>
          <a:xfrm>
            <a:off x="568100" y="611750"/>
            <a:ext cx="81669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0tik 10era bitarteko zenbakiak erakutsi "do-while" erabiliz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  <p:pic>
        <p:nvPicPr>
          <p:cNvPr id="315" name="Google Shape;31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2275" y="1939163"/>
            <a:ext cx="3695600" cy="126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786150" y="778800"/>
            <a:ext cx="8100600" cy="16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Array-ekin erabili ohi da. Iterazioak array-a zeharkatuko du eta, elementu bat aurkitzen duen bakoitzean, zehaztutako kode-lerroak exekutatuko ditu.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</a:t>
            </a:r>
            <a:endParaRPr sz="14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21" name="Google Shape;321;p4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44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Iterazioak. </a:t>
            </a:r>
            <a:r>
              <a:rPr lang="en" sz="2600"/>
              <a:t>foreach</a:t>
            </a:r>
            <a:endParaRPr sz="2600"/>
          </a:p>
        </p:txBody>
      </p:sp>
      <p:pic>
        <p:nvPicPr>
          <p:cNvPr id="323" name="Google Shape;32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500" y="2376876"/>
            <a:ext cx="8100600" cy="184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5"/>
          <p:cNvSpPr txBox="1"/>
          <p:nvPr>
            <p:ph idx="1" type="body"/>
          </p:nvPr>
        </p:nvSpPr>
        <p:spPr>
          <a:xfrm>
            <a:off x="786150" y="778800"/>
            <a:ext cx="8100600" cy="40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Badago beste forma bat izango litzateketa elkarteko array-entzat (array asociativo)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foreach </a:t>
            </a: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($array </a:t>
            </a:r>
            <a:r>
              <a:rPr b="1"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$klabea</a:t>
            </a:r>
            <a:r>
              <a:rPr b="1"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$balioa) {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echo "klabea: $klabea , balioa: $balioa; ";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}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Bistan da arrayekin lan egiteko foreach bukleen erabiltzeak duen abantaila; lehenik eta behin, ez gara arduratu behar array-ak zenbat elementu dituen definitzeaz, eta, gainera, elementu bakoitzaren balioaz eta gakoaz balia gaitezke begiztaren errepikapen bakoitzean.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29" name="Google Shape;329;p4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" name="Google Shape;330;p45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Iterazioak. </a:t>
            </a:r>
            <a:r>
              <a:rPr lang="en" sz="2600"/>
              <a:t>foreach</a:t>
            </a:r>
            <a:endParaRPr sz="2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6"/>
          <p:cNvSpPr txBox="1"/>
          <p:nvPr>
            <p:ph idx="1" type="body"/>
          </p:nvPr>
        </p:nvSpPr>
        <p:spPr>
          <a:xfrm>
            <a:off x="383675" y="2962675"/>
            <a:ext cx="8490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Pantailan agertuko dena: lunes ,martes ,miércoles ,jueves ,viernes ,sábado , domingo ,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36" name="Google Shape;336;p4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46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Iterazioak. </a:t>
            </a:r>
            <a:r>
              <a:rPr lang="en" sz="2600"/>
              <a:t>foreach</a:t>
            </a:r>
            <a:endParaRPr sz="2600"/>
          </a:p>
        </p:txBody>
      </p:sp>
      <p:pic>
        <p:nvPicPr>
          <p:cNvPr id="338" name="Google Shape;33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27" y="1177877"/>
            <a:ext cx="8812550" cy="13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47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Iterazioak. </a:t>
            </a:r>
            <a:r>
              <a:rPr lang="en" sz="2600"/>
              <a:t>foreach</a:t>
            </a:r>
            <a:endParaRPr sz="2600"/>
          </a:p>
        </p:txBody>
      </p:sp>
      <p:pic>
        <p:nvPicPr>
          <p:cNvPr id="345" name="Google Shape;34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75" y="897875"/>
            <a:ext cx="8673900" cy="140344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7"/>
          <p:cNvSpPr txBox="1"/>
          <p:nvPr>
            <p:ph idx="1" type="body"/>
          </p:nvPr>
        </p:nvSpPr>
        <p:spPr>
          <a:xfrm>
            <a:off x="427050" y="2444603"/>
            <a:ext cx="8100600" cy="19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/>
              <a:t>Kasu honetan agertuko zena:</a:t>
            </a:r>
            <a:endParaRPr i="1"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Santander es la capital de Cantabria.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Vitoria es la capital de Euskadi.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Zaragoza es la capital de Aragón.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Pamplona es la capital de Navarra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48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Iterazioak. foreach</a:t>
            </a:r>
            <a:endParaRPr sz="2600"/>
          </a:p>
        </p:txBody>
      </p:sp>
      <p:sp>
        <p:nvSpPr>
          <p:cNvPr id="353" name="Google Shape;353;p48"/>
          <p:cNvSpPr txBox="1"/>
          <p:nvPr>
            <p:ph idx="1" type="body"/>
          </p:nvPr>
        </p:nvSpPr>
        <p:spPr>
          <a:xfrm>
            <a:off x="427050" y="934847"/>
            <a:ext cx="8100600" cy="34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</a:rPr>
              <a:t>KONTUZ! Foreach-ek arrayekin bakarrik funtzionatzen du</a:t>
            </a:r>
            <a:r>
              <a:rPr lang="en" sz="1800"/>
              <a:t>, eta errorea itzuliko du beste datu mota batekin erabiltzen saiatuz gero hasieratu gabeko datu- edo aldagai-motak.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Arraya array hutsa bada, buklea ez da exekutatzen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$array = array();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foreach ($array as $klabea=&gt;$balioa) {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echo "klabea: $klabea , balioa: $balioa; ";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>
            <p:ph type="title"/>
          </p:nvPr>
        </p:nvSpPr>
        <p:spPr>
          <a:xfrm>
            <a:off x="7228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12 - errepaso</a:t>
            </a:r>
            <a:endParaRPr/>
          </a:p>
        </p:txBody>
      </p:sp>
      <p:sp>
        <p:nvSpPr>
          <p:cNvPr id="359" name="Google Shape;359;p4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49"/>
          <p:cNvSpPr txBox="1"/>
          <p:nvPr>
            <p:ph idx="4294967295" type="body"/>
          </p:nvPr>
        </p:nvSpPr>
        <p:spPr>
          <a:xfrm>
            <a:off x="568100" y="611750"/>
            <a:ext cx="81669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/>
              <a:t>Zenbakia asmatu.</a:t>
            </a:r>
            <a:endParaRPr b="1"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Sortu programa bat, 1 eta 10 bitarteko zenbaki sekretu bat asmatzeko joko txiki bat simulatzen duena. Zereginak: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Aurrez definitutako zenbaki sekretu bat izango du (adibidez, 7).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Bukle bat sortuko dugu zenbakia asmatzeko saiakerak simulatzeko, gehienez 5 saiakerekin.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Saio bakoitzeko, programak "asmatu" egingo du zenbaki bat (ausaz sortutako zenbaki bat erabiliz). Horretarako rand funtzioa erabiliko dugu.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/>
          <p:nvPr>
            <p:ph type="title"/>
          </p:nvPr>
        </p:nvSpPr>
        <p:spPr>
          <a:xfrm>
            <a:off x="7228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12 - errepaso</a:t>
            </a:r>
            <a:endParaRPr/>
          </a:p>
        </p:txBody>
      </p:sp>
      <p:sp>
        <p:nvSpPr>
          <p:cNvPr id="366" name="Google Shape;366;p5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7" name="Google Shape;367;p50"/>
          <p:cNvSpPr txBox="1"/>
          <p:nvPr>
            <p:ph idx="4294967295" type="body"/>
          </p:nvPr>
        </p:nvSpPr>
        <p:spPr>
          <a:xfrm>
            <a:off x="568100" y="611750"/>
            <a:ext cx="81669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Asmatutako zenbakia zenbaki sekretuarekin bat badator, </a:t>
            </a:r>
            <a:r>
              <a:rPr i="1" lang="en" sz="2000"/>
              <a:t>"Zuzen asmatu duzu, zenbakia X zen!"</a:t>
            </a:r>
            <a:r>
              <a:rPr lang="en" sz="2000"/>
              <a:t> erakusten du eta buklea geldituko da.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Bat ez badator, hau bistaratuko du: </a:t>
            </a:r>
            <a:r>
              <a:rPr i="1" lang="en" sz="2000"/>
              <a:t>" </a:t>
            </a:r>
            <a:r>
              <a:rPr i="1" lang="en" sz="2000"/>
              <a:t>Saiakera okerra, berriro saiatzen...</a:t>
            </a:r>
            <a:r>
              <a:rPr i="1" lang="en" sz="2000"/>
              <a:t>".</a:t>
            </a:r>
            <a:endParaRPr i="1" sz="20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Buklea bukatzean ez baldin badu asmatu</a:t>
            </a:r>
            <a:r>
              <a:rPr lang="en" sz="2000"/>
              <a:t>, </a:t>
            </a:r>
            <a:r>
              <a:rPr i="1" lang="en" sz="2000"/>
              <a:t>"Ez duzu zenbakia asmatu 5 saiakeretan. </a:t>
            </a:r>
            <a:r>
              <a:rPr i="1" lang="en" sz="2000"/>
              <a:t>Zenbaki sekretua XX zen.”</a:t>
            </a:r>
            <a:r>
              <a:rPr i="1" lang="en" sz="2000"/>
              <a:t> </a:t>
            </a:r>
            <a:r>
              <a:rPr lang="en" sz="2000"/>
              <a:t>erakusten du. 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/>
          <p:nvPr>
            <p:ph type="title"/>
          </p:nvPr>
        </p:nvSpPr>
        <p:spPr>
          <a:xfrm>
            <a:off x="7228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12 - errepaso</a:t>
            </a:r>
            <a:endParaRPr/>
          </a:p>
        </p:txBody>
      </p:sp>
      <p:sp>
        <p:nvSpPr>
          <p:cNvPr id="373" name="Google Shape;373;p5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4" name="Google Shape;37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125" y="168663"/>
            <a:ext cx="3396925" cy="480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1"/>
          <p:cNvSpPr txBox="1"/>
          <p:nvPr/>
        </p:nvSpPr>
        <p:spPr>
          <a:xfrm>
            <a:off x="541200" y="1742275"/>
            <a:ext cx="3459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>
                <a:latin typeface="Source Sans Pro"/>
                <a:ea typeface="Source Sans Pro"/>
                <a:cs typeface="Source Sans Pro"/>
                <a:sym typeface="Source Sans Pro"/>
              </a:rPr>
              <a:t>Adibidez horrelako zeozer  erakutsiko du programak:</a:t>
            </a:r>
            <a:endParaRPr i="1" sz="2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