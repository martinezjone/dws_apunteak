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6858000" cy="9144000"/>
  <p:embeddedFontLst>
    <p:embeddedFont>
      <p:font typeface="Roboto Slab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RobotoSlab-regular.fnt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3e0ed630e7_0_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3e0ed630e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95f413d3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95f413d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95f413d39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95f413d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395f413d39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395f413d3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95f413d39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395f413d3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95f413d3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95f413d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95f413d39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95f413d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395f413d39_0_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395f413d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395f413d39_0_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395f413d3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395f413d39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395f413d3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395f413d39_0_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395f413d3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95f413d39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95f413d3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54392a3924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54392a3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395f413d39_0_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395f413d3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95f413d39_0_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395f413d3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95f413d39_0_9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395f413d3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95f413d39_0_1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95f413d3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395f413d39_0_1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395f413d3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395f413d39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395f413d3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395f413d39_0_1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395f413d3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395f413d39_0_1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395f413d3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395f413d39_0_14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395f413d3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395f413d39_0_1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395f413d3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95f413d39_0_15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395f413d3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395f413d39_0_1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395f413d3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395f413d39_0_1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395f413d3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395f413d39_0_2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395f413d39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395f413d39_0_2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395f413d3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395f413d39_0_2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395f413d3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95f413d39_0_1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395f413d3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395f413d39_0_1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395f413d39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395f413d39_0_1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395f413d3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395f413d39_0_2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395f413d3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ff8d9e0c1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fff8d9e0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395f413d39_0_2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395f413d3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00d7a3235b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00d7a323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00d7a3235b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00d7a3235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 b="0" l="19" r="19" t="0"/>
          <a:stretch/>
        </p:blipFill>
        <p:spPr>
          <a:xfrm flipH="1" rot="10800000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57200" lvl="0" marL="45720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i="1" sz="3600"/>
            </a:lvl1pPr>
            <a:lvl2pPr indent="-457200" lvl="1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i="1" sz="3600"/>
            </a:lvl2pPr>
            <a:lvl3pPr indent="-457200" lvl="2" marL="13716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i="1" sz="3600"/>
            </a:lvl3pPr>
            <a:lvl4pPr indent="-457200" lvl="3" marL="18288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4pPr>
            <a:lvl5pPr indent="-457200" lvl="4" marL="22860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5pPr>
            <a:lvl6pPr indent="-457200" lvl="5" marL="2743200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6pPr>
            <a:lvl7pPr indent="-457200" lvl="6" marL="320040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i="1" sz="3600"/>
            </a:lvl7pPr>
            <a:lvl8pPr indent="-457200" lvl="7" marL="3657600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i="1" sz="3600"/>
            </a:lvl8pPr>
            <a:lvl9pPr indent="-457200" lvl="8" marL="411480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i="1" sz="3600"/>
            </a:lvl9pPr>
          </a:lstStyle>
          <a:p/>
        </p:txBody>
      </p:sp>
      <p:grpSp>
        <p:nvGrpSpPr>
          <p:cNvPr id="32" name="Google Shape;32;p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000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b="1" sz="60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cap="flat" cmpd="sng" w="9525">
              <a:solidFill>
                <a:srgbClr val="CFD8DC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cap="flat" cmpd="sng" w="1905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4"/>
          <p:cNvCxnSpPr/>
          <p:nvPr/>
        </p:nvCxnSpPr>
        <p:spPr>
          <a:xfrm flipH="1" rot="10800000">
            <a:off x="4704510" y="351930"/>
            <a:ext cx="347100" cy="474600"/>
          </a:xfrm>
          <a:prstGeom prst="straightConnector1">
            <a:avLst/>
          </a:prstGeom>
          <a:noFill/>
          <a:ln cap="flat" cmpd="sng" w="9525">
            <a:solidFill>
              <a:srgbClr val="CFD8D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-87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3" type="body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57200" y="4055343"/>
            <a:ext cx="8229600" cy="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-92" y="4749844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b="1" sz="13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php.net/manual/es/ref.array.php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w3schools.com/php/func_array.asp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w3schools.com/php/func_array_rand.asp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1824960" y="1173900"/>
            <a:ext cx="58074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 LENGOAIA</a:t>
            </a:r>
            <a:endParaRPr/>
          </a:p>
        </p:txBody>
      </p:sp>
      <p:sp>
        <p:nvSpPr>
          <p:cNvPr id="71" name="Google Shape;71;p12"/>
          <p:cNvSpPr txBox="1"/>
          <p:nvPr>
            <p:ph idx="4294967295" type="subTitle"/>
          </p:nvPr>
        </p:nvSpPr>
        <p:spPr>
          <a:xfrm>
            <a:off x="1912700" y="2179350"/>
            <a:ext cx="5382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/>
              <a:t>2. UNITATEA - ARRAY-ak</a:t>
            </a:r>
            <a:endParaRPr b="1" sz="3600"/>
          </a:p>
        </p:txBody>
      </p:sp>
      <p:sp>
        <p:nvSpPr>
          <p:cNvPr id="72" name="Google Shape;72;p12"/>
          <p:cNvSpPr txBox="1"/>
          <p:nvPr>
            <p:ph idx="4294967295" type="body"/>
          </p:nvPr>
        </p:nvSpPr>
        <p:spPr>
          <a:xfrm>
            <a:off x="207975" y="3983700"/>
            <a:ext cx="52959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accent2"/>
                </a:solidFill>
              </a:rPr>
              <a:t>Web garapena zerbitzari-ingurunean</a:t>
            </a:r>
            <a:endParaRPr sz="2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600"/>
              <a:t>Txurdinaga 2024-25</a:t>
            </a:r>
            <a:endParaRPr sz="2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4"/>
                </a:solidFill>
              </a:rPr>
              <a:t>2</a:t>
            </a:r>
            <a:r>
              <a:rPr lang="en" sz="6000">
                <a:solidFill>
                  <a:schemeClr val="accent4"/>
                </a:solidFill>
              </a:rPr>
              <a:t>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programazioa PHPrekin</a:t>
            </a:r>
            <a:endParaRPr/>
          </a:p>
        </p:txBody>
      </p:sp>
      <p:sp>
        <p:nvSpPr>
          <p:cNvPr id="78" name="Google Shape;78;p13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3"/>
          <p:cNvSpPr txBox="1"/>
          <p:nvPr>
            <p:ph type="ctrTitle"/>
          </p:nvPr>
        </p:nvSpPr>
        <p:spPr>
          <a:xfrm>
            <a:off x="1546025" y="3333023"/>
            <a:ext cx="5832600" cy="78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Char char="-"/>
            </a:pPr>
            <a:r>
              <a:rPr b="0" lang="en" sz="3000">
                <a:solidFill>
                  <a:schemeClr val="accent3"/>
                </a:solidFill>
              </a:rPr>
              <a:t>Arrayak</a:t>
            </a:r>
            <a:endParaRPr b="0" sz="3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106500" y="702600"/>
            <a:ext cx="8648100" cy="43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Array-ek, </a:t>
            </a:r>
            <a:r>
              <a:rPr lang="en" sz="2100">
                <a:solidFill>
                  <a:schemeClr val="accent1"/>
                </a:solidFill>
              </a:rPr>
              <a:t>datu konposatuak</a:t>
            </a:r>
            <a:r>
              <a:rPr lang="en" sz="2100"/>
              <a:t> diren aldetik, hainbat balio gorde ditzakete; arrayaren osagai bakoitza posizio jakin batean gordetzen da; posizio horri </a:t>
            </a:r>
            <a:r>
              <a:rPr lang="en" sz="2100">
                <a:solidFill>
                  <a:schemeClr val="accent1"/>
                </a:solidFill>
              </a:rPr>
              <a:t>gako</a:t>
            </a:r>
            <a:r>
              <a:rPr lang="en" sz="2100"/>
              <a:t>-balioa erabiliz egiten zaio erreferentzia; gakoak zenbakizkoak zein asoziatiboak izan daitezke.</a:t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// zenbakizko array-a</a:t>
            </a:r>
            <a:endParaRPr b="1" sz="15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$ikasgaiak1 = array(0 =&gt; "Programazioa", 1 =&gt; "Datu-Baseak", ..., 9 =&gt; "Web garapena zerbitzari-ingurunean ");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1"/>
                </a:solidFill>
              </a:rPr>
              <a:t>// array asoziatiboa</a:t>
            </a:r>
            <a:endParaRPr b="1" sz="15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$ikasgaiak2 = array("PR" =&gt; "Programazioa", "BD" =&gt; "Datu-basea", ...,</a:t>
            </a:r>
            <a:endParaRPr sz="15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"eDWES" =&gt; "Web garapena zerbitzari-ingurunean");</a:t>
            </a:r>
            <a:endParaRPr sz="1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5" name="Google Shape;85;p1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4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Zer da array bat?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Array-aren elementuei erreferentzia egiteko, gako-balioa kortxeteen artean jarri behar dugu.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$ikasgaiak1[9];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$ikasgaiak2["DWES"];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5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Zer da array bat?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504400" y="702600"/>
            <a:ext cx="84486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Bi array mota aztertuko dira: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</a:rPr>
              <a:t>Indexatuak</a:t>
            </a:r>
            <a:r>
              <a:rPr lang="en" sz="2100"/>
              <a:t>: Datu bakoitzaren identifikatzaile-datua array-an duen posizioa da.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Adibidea: </a:t>
            </a: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$erabiltzaileak[0]</a:t>
            </a:r>
            <a:endParaRPr i="1" sz="18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8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</a:rPr>
              <a:t>Asoziatiboak</a:t>
            </a:r>
            <a:r>
              <a:rPr lang="en" sz="2100"/>
              <a:t>: Datu bakoitzak programatzaileak esleitutako identifikatzaile bat izango du.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/>
              <a:t>Adibidea: </a:t>
            </a: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$erabiltzaileak['nick']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mota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504400" y="8550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Indexatuak zenbakizko balioa dutenak dira.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2"/>
                </a:solidFill>
              </a:rPr>
              <a:t>• Array bat sortu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Matrize indexatu baten sintaxia sortzen da </a:t>
            </a:r>
            <a:r>
              <a:rPr lang="en" sz="2100">
                <a:solidFill>
                  <a:schemeClr val="accent1"/>
                </a:solidFill>
              </a:rPr>
              <a:t>array()</a:t>
            </a:r>
            <a:r>
              <a:rPr lang="en" sz="2100"/>
              <a:t> funtzioaren bidez, non bere elementuak komaz bereizi behar dira (,) eta kateak, zenbakiak edo aldagaiak izan daitezke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100"/>
              <a:t>Adibidea</a:t>
            </a:r>
            <a:endParaRPr i="1"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$izenak= array ("Ane", "Gorka" , "Elena", "Leo" , "Maider");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7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indexatuak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504400" y="808625"/>
            <a:ext cx="45063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Bost elementuko matrize bat sortuko dugu, </a:t>
            </a:r>
            <a:r>
              <a:rPr lang="en" sz="2000">
                <a:solidFill>
                  <a:schemeClr val="accent2"/>
                </a:solidFill>
              </a:rPr>
              <a:t>array() </a:t>
            </a:r>
            <a:r>
              <a:rPr lang="en" sz="2000"/>
              <a:t>funtzioarekin;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argudioak dira arrayan gorde nahi ditugun elementuak.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Bakoitzari indize bat dagokio (gakoa), zenbaki sekuentziala, dauden ordenaren arabera, zerotik hasita…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indexatuak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5222700" y="626350"/>
            <a:ext cx="39213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 = array(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 =&gt; "Ane",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 =&gt; </a:t>
            </a: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"Gorka"</a:t>
            </a: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 =&gt; "Elena",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 =&gt; "Leo",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4 =&gt; "Maider"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504400" y="702600"/>
            <a:ext cx="82503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Matrize baten elementuek ez dute zertan mota berekoa izan behar, matrize batean kate alfanumerikoak gordetzea, balioak zenbakizkoak, balio boolearrak…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 = array ("Gorka","Ane", 34, True);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 u="sng"/>
              <a:t>Elementu berri bat sartzeko:</a:t>
            </a:r>
            <a:endParaRPr sz="1800" u="sng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$izenak[4]="Elena";</a:t>
            </a:r>
            <a:endParaRPr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$izenak[]="Elena";  </a:t>
            </a:r>
            <a:r>
              <a:rPr b="1" i="1"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// Ez da beharrezkoa indizea jartzea, PHPk zuzenean bukaeran sartzen du</a:t>
            </a:r>
            <a:endParaRPr b="1" i="1"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indexatuak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504400" y="702600"/>
            <a:ext cx="82743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Ikusi dugu indizeak zerotik hasten direla, eta goranzko sekuentzian sortuz. Baina hori alda dezakegu, kasu bakoitzean komeni zaigun moduan.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 = array (1=&gt;"Pedro","Ana","Carmen","Alfredo", "Eva");</a:t>
            </a:r>
            <a:endParaRPr sz="17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Kasu honetan lehenengoa 1ean hasiko zen eta hurrengoa 2 izango zen, baina hori hurrengo adibidean ikusi daitekeen moduan, ere alda daiteke horrela nahi izatekotan.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 = array (1=&gt;"Pedro","Ana",50=&gt;"Carmen","Alfredo", "Eva");</a:t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indexatuak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504400" y="855000"/>
            <a:ext cx="7853400" cy="34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PHP matrize hori sortzen denean, ez du espaziorik gordetzen aitortu gabeko elementuen memoria. 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Baina edozein momentutan elementu berriak sor daitezke eta PHP-k lekua izango du elementu horientzat.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$izenak[34]="Maider";</a:t>
            </a:r>
            <a:endParaRPr sz="19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indexatuak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28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14</a:t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2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Zenbakizko balioak dituen array bat definitu, adibidez, 10 zenbaki dituen arraya.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Egin balio guztien batura eta gorde aldagai batean.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Bistaratu batuketa pantailan.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190225" y="702600"/>
            <a:ext cx="86961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Elementuak dituzten matrize-motak dira gako-balio bikoteen bidez eratzen dira, eta gakoa horrekin jakingo dugu zein den dagokion elementua.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Horrela, array bat lor dezakegu, non gakoa haren balioari lotzen zaio.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$lagun = array( "izena"=&gt; "Pedro Torres","helbidea"=&gt; "CL Mayor,37", </a:t>
            </a:r>
            <a:endParaRPr sz="16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"telefonoa"=&gt;123456789);</a:t>
            </a:r>
            <a:endParaRPr sz="16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3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a</a:t>
            </a:r>
            <a:r>
              <a:rPr lang="en" sz="2600">
                <a:solidFill>
                  <a:srgbClr val="073763"/>
                </a:solidFill>
              </a:rPr>
              <a:t>soziatiboak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5704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15</a:t>
            </a:r>
            <a:endParaRPr/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4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Hurrengo array kontutan izanda, atara ikasleen nota guztiak </a:t>
            </a:r>
            <a:r>
              <a:rPr lang="en" sz="2000">
                <a:solidFill>
                  <a:schemeClr val="accent2"/>
                </a:solidFill>
              </a:rPr>
              <a:t>banan-banan </a:t>
            </a:r>
            <a:r>
              <a:rPr lang="en" sz="2000"/>
              <a:t>alde batetik eta gero  </a:t>
            </a:r>
            <a:r>
              <a:rPr lang="en" sz="2000">
                <a:solidFill>
                  <a:schemeClr val="accent1"/>
                </a:solidFill>
              </a:rPr>
              <a:t>foreach </a:t>
            </a:r>
            <a:r>
              <a:rPr lang="en" sz="2000"/>
              <a:t>bategaz, kontutan izan zein motatako arraya den.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$notak = array("Ander"=&gt;"3.5", "Bego"=&gt;"7", "Jon"=&gt;"6.3");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7158" y="2413825"/>
            <a:ext cx="3253625" cy="25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Dimentsio anitzeko array bat bada array bat non bere balioetako bat, gutxienez beste array bat da.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5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Matrize multidimentsionala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028" y="1841228"/>
            <a:ext cx="5522855" cy="29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7813" y="2795463"/>
            <a:ext cx="2676525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26375" y="0"/>
            <a:ext cx="7815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16</a:t>
            </a:r>
            <a:endParaRPr/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6"/>
          <p:cNvSpPr txBox="1"/>
          <p:nvPr>
            <p:ph idx="4294967295" type="body"/>
          </p:nvPr>
        </p:nvSpPr>
        <p:spPr>
          <a:xfrm>
            <a:off x="326375" y="611750"/>
            <a:ext cx="84087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Sortu matriz multidimentsionala ikasleen datuak gordetzeko</a:t>
            </a:r>
            <a:r>
              <a:rPr lang="en" sz="2000"/>
              <a:t>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Array nagusiaren klabea ikaslearen “izena” izango da eta array honek beste array bat izango du barruan. Hurrengoko datuekin: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Abizenak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Adina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z</a:t>
            </a:r>
            <a:r>
              <a:rPr lang="en" sz="2000"/>
              <a:t>ikloa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Behin sortuta foreach estrukturarekin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pantailan erakutsiko dugu. Zenbat foreach beharko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 ditugu?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2150" y="1756200"/>
            <a:ext cx="2571750" cy="3257550"/>
          </a:xfrm>
          <a:prstGeom prst="rect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Matrize indexatuak direnean, erraza da array baten zehar nabigatzea, nahikoa da nahi dugun elementuan sartzea, baina elkarte-matrizeren bat denez, ezin da tratamendu bera aplikatu.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Horretarako, funtzio-multzo bat dago aurrefabrikatuak, ekintza ugari: </a:t>
            </a:r>
            <a:r>
              <a:rPr i="1" lang="en" sz="2100"/>
              <a:t>count(), reset(), end()</a:t>
            </a:r>
            <a:r>
              <a:rPr lang="en" sz="2100"/>
              <a:t> etab…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Hurrengo estekan dituzue Array-en </a:t>
            </a:r>
            <a:r>
              <a:rPr b="1" lang="en" sz="2100">
                <a:solidFill>
                  <a:schemeClr val="accent2"/>
                </a:solidFill>
              </a:rPr>
              <a:t>funtzioen zerrenda</a:t>
            </a:r>
            <a:r>
              <a:rPr lang="en" sz="2100"/>
              <a:t>: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https://www.php.net/manual/es/ref.array.php</a:t>
            </a:r>
            <a:r>
              <a:rPr lang="en" sz="2100"/>
              <a:t> 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1" name="Google Shape;181;p2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Matrizeetan nabigatzea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/>
              <a:t>Funtzio honekin jakin dezakegu zenbat elementu dituen array batek</a:t>
            </a:r>
            <a:endParaRPr sz="18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88" name="Google Shape;188;p2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count() funtzioa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680" y="1519800"/>
            <a:ext cx="7327925" cy="1436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9438" y="3141275"/>
            <a:ext cx="2543175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</a:rPr>
              <a:t>reset(array)</a:t>
            </a:r>
            <a:r>
              <a:rPr lang="en" sz="2100"/>
              <a:t>; Barruko erakuslea lehen postura itzuli da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</a:rPr>
              <a:t>end(array)</a:t>
            </a:r>
            <a:r>
              <a:rPr lang="en" sz="2100"/>
              <a:t>; Barruko erakuslea azken postura doa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</a:rPr>
              <a:t>next(array)</a:t>
            </a:r>
            <a:r>
              <a:rPr lang="en" sz="2100"/>
              <a:t>; Erakuslea hurrengo elementura doa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</a:rPr>
              <a:t>prev(array)</a:t>
            </a:r>
            <a:r>
              <a:rPr lang="en" sz="2100"/>
              <a:t>; Sartu aurreko elementura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</a:rPr>
              <a:t>current(array)</a:t>
            </a:r>
            <a:r>
              <a:rPr lang="en" sz="2100"/>
              <a:t>; Uneko (actual) elementuaren edukia itzultzen du</a:t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" name="Google Shape;197;p2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9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Matrizeetan nabigatzea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0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Matrizeetan nabigatzea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00" y="1045095"/>
            <a:ext cx="8099585" cy="3494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Array baten barruan elementuak txertatzeko baditugu hainbat funtzio, hona hemen horietako batzuk: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array_push(matr,1,N);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Funtzioaren amaieran elementuak gehitzen ditu eta arraya luzatuko da gehitu diren adina elementu.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1" name="Google Shape;211;p3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1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Elementuak txertatzea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570400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17</a:t>
            </a:r>
            <a:endParaRPr/>
          </a:p>
        </p:txBody>
      </p:sp>
      <p:sp>
        <p:nvSpPr>
          <p:cNvPr id="218" name="Google Shape;218;p3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2"/>
          <p:cNvSpPr txBox="1"/>
          <p:nvPr>
            <p:ph idx="4294967295" type="body"/>
          </p:nvPr>
        </p:nvSpPr>
        <p:spPr>
          <a:xfrm>
            <a:off x="568100" y="611750"/>
            <a:ext cx="81669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Badugu ondorengo array bat: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$frutak = array("laranja", "platanoa");</a:t>
            </a:r>
            <a:endParaRPr sz="20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Gehitu beste bi elementu (limoia eta sagarra) array_push() funtzioarekin.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array_unshift(</a:t>
            </a:r>
            <a:r>
              <a:rPr b="1" lang="en" sz="2000">
                <a:solidFill>
                  <a:schemeClr val="accent1"/>
                </a:solidFill>
              </a:rPr>
              <a:t>matrizea</a:t>
            </a:r>
            <a:r>
              <a:rPr b="1" lang="en" sz="2000">
                <a:solidFill>
                  <a:schemeClr val="accent1"/>
                </a:solidFill>
              </a:rPr>
              <a:t>,aldagai1,aldagaiN);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Funtzioaren hasieran elementuak gehitzen ditu besteak atzeruntz botatzen.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array_pad(matrizea,berria,balio_betegarria);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Matrizearen tamaina handitzen du balio bat erabiliz betegarri gisa.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5" name="Google Shape;225;p3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3"/>
          <p:cNvSpPr txBox="1"/>
          <p:nvPr>
            <p:ph type="title"/>
          </p:nvPr>
        </p:nvSpPr>
        <p:spPr>
          <a:xfrm>
            <a:off x="806875" y="-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Elementuak txertatzea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504400" y="702600"/>
            <a:ext cx="82290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array_shift(matrizea);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Matrizeko lehenengo elementua ezabatzen du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array_pop (matrizea);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Matrizeko azkeneko elementua ezabatzen du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array_splice(matrizea, pos_ini,[tamaina],[ordezkoak]);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Matrize baten zati baten edukia ordezkatzeko edo ezabatzeko erabiltzen da. Horretarako, posizioa zehaztu behar dugu, zenbat elementu ordezkatuko diren eta ordezkoak zeintzuk izango diren </a:t>
            </a:r>
            <a:r>
              <a:rPr i="1" lang="en" sz="2000"/>
              <a:t>(baldin eta elementuren batekin ordezkatu nahi dugun)</a:t>
            </a:r>
            <a:r>
              <a:rPr lang="en" sz="2000"/>
              <a:t>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2" name="Google Shape;232;p3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34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Elementuak ezabatzea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array_keys(matrizea,[bilatutako balioa]);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Honek esaten digu array baten klabeak. Balioagarria da elementu bat ezabatu behar dugunerako eta ez baldin badakigu zein posiziotan dagoen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array_values (matrizea);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Honek bueltatzen ditu array baten balioak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9" name="Google Shape;239;p3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35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Elementuak ezabatzea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</a:t>
            </a:r>
            <a:r>
              <a:rPr lang="en" sz="2000"/>
              <a:t>urrengo estekan duzue aukera frogatzeko zelan funtzionatzen duten array funtzio guztiak: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https://www.w3schools.com/php/func_array.asp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46" name="Google Shape;246;p3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6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funtzioak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idx="1" type="body"/>
          </p:nvPr>
        </p:nvSpPr>
        <p:spPr>
          <a:xfrm>
            <a:off x="504400" y="931200"/>
            <a:ext cx="7853400" cy="3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array_slice(matrizea,posizioa,tamaina);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Funtzio honek array baten zati bat bueltatzen du, esaten diogu non hasi behar duen zatitzen eta zenbat elementu nahi ditugun.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Ez badugu tamaina jartzen, bukaerararte egingo du.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3" name="Google Shape;253;p3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37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 zati bat lortzeko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8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Arrayak ordenatzen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00" y="1087345"/>
            <a:ext cx="8099585" cy="34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p</a:t>
            </a:r>
            <a:r>
              <a:rPr b="1" lang="en" sz="2000">
                <a:solidFill>
                  <a:schemeClr val="accent1"/>
                </a:solidFill>
              </a:rPr>
              <a:t>rint_r </a:t>
            </a:r>
            <a:r>
              <a:rPr lang="en" sz="2000"/>
              <a:t>funtzioak bueltatzen digu array baten klabeak eta balioak. Klabeak kortxeteen artean bueltatzen ditu eta balioak =&gt; seinuaren atzean.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67" name="Google Shape;267;p3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9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Print_r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975" y="1664200"/>
            <a:ext cx="4333875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563" y="4034863"/>
            <a:ext cx="4695825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9"/>
          <p:cNvSpPr txBox="1"/>
          <p:nvPr/>
        </p:nvSpPr>
        <p:spPr>
          <a:xfrm>
            <a:off x="422675" y="4040988"/>
            <a:ext cx="171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Irteera: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type="title"/>
          </p:nvPr>
        </p:nvSpPr>
        <p:spPr>
          <a:xfrm>
            <a:off x="326375" y="0"/>
            <a:ext cx="7815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18</a:t>
            </a:r>
            <a:endParaRPr/>
          </a:p>
        </p:txBody>
      </p:sp>
      <p:sp>
        <p:nvSpPr>
          <p:cNvPr id="277" name="Google Shape;277;p4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40"/>
          <p:cNvSpPr txBox="1"/>
          <p:nvPr>
            <p:ph idx="4294967295" type="body"/>
          </p:nvPr>
        </p:nvSpPr>
        <p:spPr>
          <a:xfrm>
            <a:off x="326375" y="611750"/>
            <a:ext cx="84087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Hamar film-titulu dituen array bat definitu.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Sort funtzioa erabili alfabetikoki ordenatu eta print_r bidez pantailan bistaratu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Parentesien artean esandako elementua ezabatzen du. Hurrengo diapositiban dago adibide bat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84" name="Google Shape;284;p41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41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unset</a:t>
            </a:r>
            <a:r>
              <a:rPr lang="en" sz="2600">
                <a:solidFill>
                  <a:srgbClr val="073763"/>
                </a:solidFill>
              </a:rPr>
              <a:t>()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1" name="Google Shape;2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28588"/>
            <a:ext cx="7505700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 txBox="1"/>
          <p:nvPr>
            <p:ph type="title"/>
          </p:nvPr>
        </p:nvSpPr>
        <p:spPr>
          <a:xfrm>
            <a:off x="326375" y="0"/>
            <a:ext cx="7815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19</a:t>
            </a:r>
            <a:endParaRPr/>
          </a:p>
        </p:txBody>
      </p:sp>
      <p:sp>
        <p:nvSpPr>
          <p:cNvPr id="297" name="Google Shape;297;p43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3"/>
          <p:cNvSpPr txBox="1"/>
          <p:nvPr>
            <p:ph idx="4294967295" type="body"/>
          </p:nvPr>
        </p:nvSpPr>
        <p:spPr>
          <a:xfrm>
            <a:off x="326375" y="611750"/>
            <a:ext cx="84087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Array hau emanda: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$paises = array (“alemania’,’brasil’,’italia’,’txile’,’uruguay’,’australia’) </a:t>
            </a:r>
            <a:endParaRPr sz="17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Hau eskatzen da: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1. ‘Alemania’, ‘italia’ eta ‘australia’ elementuak kentzea.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2. ‘Argentina’ eta ‘bolivia’ elementuak txertatzea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3. Ordenatu array alfabetikoki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4. Bistaratu emaitza print_r pantailaz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Var_dump</a:t>
            </a:r>
            <a:r>
              <a:rPr b="1" lang="en" sz="2000">
                <a:solidFill>
                  <a:schemeClr val="accent1"/>
                </a:solidFill>
              </a:rPr>
              <a:t> </a:t>
            </a:r>
            <a:r>
              <a:rPr lang="en" sz="2000"/>
              <a:t>funtzioak bueltatzen digu array baten elementu zenbakia parentesien artean eta barneko estruktura datu mota guztiak zehazten.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04" name="Google Shape;304;p44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4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Var_dump</a:t>
            </a:r>
            <a:endParaRPr sz="2600">
              <a:solidFill>
                <a:srgbClr val="073763"/>
              </a:solidFill>
            </a:endParaRPr>
          </a:p>
        </p:txBody>
      </p:sp>
      <p:sp>
        <p:nvSpPr>
          <p:cNvPr id="306" name="Google Shape;306;p44"/>
          <p:cNvSpPr txBox="1"/>
          <p:nvPr/>
        </p:nvSpPr>
        <p:spPr>
          <a:xfrm>
            <a:off x="422675" y="4040988"/>
            <a:ext cx="171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Irteera: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07" name="Google Shape;30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587" y="1670825"/>
            <a:ext cx="4522913" cy="237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3950" y="4269600"/>
            <a:ext cx="7080697" cy="6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>
            <p:ph type="title"/>
          </p:nvPr>
        </p:nvSpPr>
        <p:spPr>
          <a:xfrm>
            <a:off x="326375" y="0"/>
            <a:ext cx="7815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20</a:t>
            </a:r>
            <a:endParaRPr/>
          </a:p>
        </p:txBody>
      </p:sp>
      <p:sp>
        <p:nvSpPr>
          <p:cNvPr id="314" name="Google Shape;314;p45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45"/>
          <p:cNvSpPr txBox="1"/>
          <p:nvPr>
            <p:ph idx="4294967295" type="body"/>
          </p:nvPr>
        </p:nvSpPr>
        <p:spPr>
          <a:xfrm>
            <a:off x="326375" y="611750"/>
            <a:ext cx="84087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Karaktere bateko gakoak dituen array bat definitu, kareakterak ‘a’tik ‘f’rarte joango dira.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Definizio berean, gako bakoitzari letra horrekin hasten den izen propio bat eman. Adibidez (“a”=’Amanda’); 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Erakutsi emaitza pantailan var_dump erabiliz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Funtzio honek esango digu elementu bat ia array barruan dagoen ala ez. 1 balio hori array barruan dagoenean eta 0 ez baldin badu topatzen.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46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in_array()</a:t>
            </a:r>
            <a:endParaRPr sz="2600">
              <a:solidFill>
                <a:srgbClr val="073763"/>
              </a:solidFill>
            </a:endParaRPr>
          </a:p>
        </p:txBody>
      </p:sp>
      <p:pic>
        <p:nvPicPr>
          <p:cNvPr id="323" name="Google Shape;3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75" y="1627200"/>
            <a:ext cx="44767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6750" y="3060700"/>
            <a:ext cx="21145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6"/>
          <p:cNvSpPr txBox="1"/>
          <p:nvPr/>
        </p:nvSpPr>
        <p:spPr>
          <a:xfrm>
            <a:off x="6118575" y="2425063"/>
            <a:ext cx="171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Irteera: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326375" y="0"/>
            <a:ext cx="7815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12 errepaso array-ekin</a:t>
            </a:r>
            <a:endParaRPr/>
          </a:p>
        </p:txBody>
      </p:sp>
      <p:sp>
        <p:nvSpPr>
          <p:cNvPr id="331" name="Google Shape;331;p47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7"/>
          <p:cNvSpPr txBox="1"/>
          <p:nvPr>
            <p:ph idx="4294967295" type="body"/>
          </p:nvPr>
        </p:nvSpPr>
        <p:spPr>
          <a:xfrm>
            <a:off x="326375" y="611750"/>
            <a:ext cx="84087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Hartuko dugu, ariketa 12 errepaso, eta array batekin kontrolatuko dugu hautazko zenbakia ez errepikatzea.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Errepikatzen bada mezu bat aterako dugu, eta ez dugu saiakeren kopurua gehituko.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Mezua adibidez: </a:t>
            </a:r>
            <a:r>
              <a:rPr i="1" lang="en" sz="2000"/>
              <a:t>Zenbakia 5 berriro aukeratu duzu, saiatu berriz.</a:t>
            </a:r>
            <a:endParaRPr i="1"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>
            <p:ph idx="1" type="body"/>
          </p:nvPr>
        </p:nvSpPr>
        <p:spPr>
          <a:xfrm>
            <a:off x="504400" y="702600"/>
            <a:ext cx="7853400" cy="41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Array barruan dauden elementu guztien artean elementu bat hartzen du “aleatorio” moduan.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Funtzio honek bi parametro izan ditzake, alde batetik arraya, hori derrigorrezkoa da, eta bestetik aukerazko beste parametro bat, zenbat elementu nahi ditugun zehazteko.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hlinkClick r:id="rId3"/>
              </a:rPr>
              <a:t>https://www.w3schools.com/php/func_array_rand.asp</a:t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38" name="Google Shape;338;p48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48"/>
          <p:cNvSpPr txBox="1"/>
          <p:nvPr>
            <p:ph type="title"/>
          </p:nvPr>
        </p:nvSpPr>
        <p:spPr>
          <a:xfrm>
            <a:off x="585075" y="42245"/>
            <a:ext cx="75717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73763"/>
                </a:solidFill>
              </a:rPr>
              <a:t>array_rand</a:t>
            </a:r>
            <a:endParaRPr sz="2600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/>
          <p:nvPr>
            <p:ph type="title"/>
          </p:nvPr>
        </p:nvSpPr>
        <p:spPr>
          <a:xfrm>
            <a:off x="326375" y="0"/>
            <a:ext cx="7815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20B</a:t>
            </a:r>
            <a:endParaRPr/>
          </a:p>
        </p:txBody>
      </p:sp>
      <p:sp>
        <p:nvSpPr>
          <p:cNvPr id="345" name="Google Shape;345;p49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49"/>
          <p:cNvSpPr txBox="1"/>
          <p:nvPr>
            <p:ph idx="4294967295" type="body"/>
          </p:nvPr>
        </p:nvSpPr>
        <p:spPr>
          <a:xfrm>
            <a:off x="326375" y="611750"/>
            <a:ext cx="84087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 u="sng"/>
              <a:t>Zure bidaia-desioen zerrenda</a:t>
            </a:r>
            <a:endParaRPr b="1" sz="2000" u="sng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Imajinatu bidaia egiteko gogoko dituzun herrialdeen zerrenda bat antolatzen ari zarela, eta zerrenda hori arrayak erabiliz kudeatu behar duzula.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/>
              <a:t>Argibideak</a:t>
            </a:r>
            <a:r>
              <a:rPr lang="en" sz="2000"/>
              <a:t>: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Sortu </a:t>
            </a:r>
            <a:r>
              <a:rPr i="1" lang="en" sz="2000">
                <a:solidFill>
                  <a:schemeClr val="accent1"/>
                </a:solidFill>
              </a:rPr>
              <a:t>$desio_zerrenda</a:t>
            </a:r>
            <a:r>
              <a:rPr lang="en" sz="2000"/>
              <a:t> izeneko array bat, bidaiatu nahi zenituzkeen bost herrialderekin.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Erabili beharrezko funtzioa  bi herrialde gehiago gehitzeko zerrendara.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														jarraitu-&gt;</a:t>
            </a:r>
            <a:endParaRPr i="1"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/>
          <p:cNvSpPr txBox="1"/>
          <p:nvPr>
            <p:ph type="title"/>
          </p:nvPr>
        </p:nvSpPr>
        <p:spPr>
          <a:xfrm>
            <a:off x="326375" y="0"/>
            <a:ext cx="7815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Ariketa 20B</a:t>
            </a:r>
            <a:endParaRPr/>
          </a:p>
        </p:txBody>
      </p:sp>
      <p:sp>
        <p:nvSpPr>
          <p:cNvPr id="352" name="Google Shape;352;p50"/>
          <p:cNvSpPr txBox="1"/>
          <p:nvPr>
            <p:ph idx="12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3" name="Google Shape;353;p50"/>
          <p:cNvSpPr txBox="1"/>
          <p:nvPr>
            <p:ph idx="4294967295" type="body"/>
          </p:nvPr>
        </p:nvSpPr>
        <p:spPr>
          <a:xfrm>
            <a:off x="326375" y="611750"/>
            <a:ext cx="8408700" cy="39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Orain bi zerrenda gehigarri dituzu, azken bi urteetan bidaiatu dituzun herrialdeekin, adibidez:</a:t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1"/>
                </a:solidFill>
              </a:rPr>
              <a:t>$bisitatuak_2022 = array('Italia', 'Frantzia')</a:t>
            </a:r>
            <a:endParaRPr i="1" sz="2000">
              <a:solidFill>
                <a:schemeClr val="accent1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accent1"/>
                </a:solidFill>
              </a:rPr>
              <a:t>$bisitatuak_2023 = array('Portugal', 'Japon')</a:t>
            </a:r>
            <a:endParaRPr i="1" sz="2000">
              <a:solidFill>
                <a:schemeClr val="accent1"/>
              </a:solidFill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Bi zerrenda horiek batu array bakarrean </a:t>
            </a:r>
            <a:r>
              <a:rPr i="1" lang="en" sz="2000">
                <a:solidFill>
                  <a:schemeClr val="accent1"/>
                </a:solidFill>
              </a:rPr>
              <a:t>$bisitatuak_guztiak.</a:t>
            </a:r>
            <a:endParaRPr i="1" sz="2000">
              <a:solidFill>
                <a:schemeClr val="accent1"/>
              </a:solidFill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Ezabatu errepikatzen diren herrialdeak </a:t>
            </a:r>
            <a:r>
              <a:rPr i="1" lang="en" sz="2000">
                <a:solidFill>
                  <a:schemeClr val="accent1"/>
                </a:solidFill>
              </a:rPr>
              <a:t>$desio_zerrenda</a:t>
            </a:r>
            <a:r>
              <a:rPr lang="en" sz="2000"/>
              <a:t>-tik. Hau da, bidaiatu dituzun herrialdeak ezabatu nahi dituzu zure desioen zerrendatik.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Azken desioen zerrenda alfabetikoki ordenatu.</a:t>
            </a:r>
            <a:endParaRPr sz="2000"/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◎"/>
            </a:pPr>
            <a:r>
              <a:rPr lang="en" sz="2000"/>
              <a:t>Emaitza pantailaratu.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